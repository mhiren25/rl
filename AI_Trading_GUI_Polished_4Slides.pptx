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Today, placing an order requires filling rigid tickets. Traders think in intent, not fields.
Our GUI allows users to express intent in natural language, like 'Buy 100k AAPL with minimal impact'.
The system converts that intent into a structured order and explains what it understood.
This is decision support, not auto-trading. The user always reviews and controls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Once intent is understood, the AI suggests an execution strategy.
In phase one, we intentionally limit scope to VWAP, TWAP, and POV for safety and transparency.
The AI explains why it recommends each strategy—based on order size, urgency, market liquidity, and your past preferences.
Critically, user corrections are treated as learning signals, not errors.
You can accept, modify, or completely override any suggestion.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Learning is the most critical and most misunderstood part.
There is no real-time learning in production. Inference and execution are fully deterministic.
User corrections are captured and analyzed offline, typically end of day.
APO reinforcement learning improves prompts and strategy mapping, not execution logic.
Every improvement is reviewed and approved—typically by a senior trader or risk officer—before deployment, and can be rolled back at any time.
Inference is real-time. Learning is offline. Humans stay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diagram shows our complete technical architecture with clear separation of concerns.
The blue section represents real-time inference—fully deterministic with no learning.
When a trader enters an order, it flows through our vendor-neutral agent layer to the LLM for strategy suggestion.
The user reviews and confirms. If they make a correction, that flows to the green section—the offline learning path.
End of day, we run APO reinforcement learning on accumulated corrections.
Every change goes through human review before deployment.
Notice the dashed line from governance back to the agent—that's our rollback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AI-Powered Trading: Natural Language to Execution</a:t>
            </a:r>
            <a:endParaRPr lang="en-US" sz="4000" dirty="0"/>
          </a:p>
        </p:txBody>
      </p:sp>
      <p:sp>
        <p:nvSpPr>
          <p:cNvPr id="3" name="Text 1"/>
          <p:cNvSpPr/>
          <p:nvPr/>
        </p:nvSpPr>
        <p:spPr>
          <a:xfrm>
            <a:off x="457200" y="960120"/>
            <a:ext cx="8229600" cy="365760"/>
          </a:xfrm>
          <a:prstGeom prst="rect">
            <a:avLst/>
          </a:prstGeom>
          <a:noFill/>
          <a:ln/>
        </p:spPr>
        <p:txBody>
          <a:bodyPr wrap="square"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From Intent to Structured Order in Seconds</a:t>
            </a:r>
            <a:endParaRPr lang="en-US" sz="1800" dirty="0"/>
          </a:p>
        </p:txBody>
      </p:sp>
      <p:sp>
        <p:nvSpPr>
          <p:cNvPr id="4" name="Shape 2"/>
          <p:cNvSpPr/>
          <p:nvPr/>
        </p:nvSpPr>
        <p:spPr>
          <a:xfrm>
            <a:off x="640080" y="1828800"/>
            <a:ext cx="1828800" cy="1645920"/>
          </a:xfrm>
          <a:prstGeom prst="rect">
            <a:avLst/>
          </a:prstGeom>
          <a:solidFill>
            <a:srgbClr val="3B82F6">
              <a:alpha val="90000"/>
            </a:srgbClr>
          </a:solidFill>
          <a:ln w="25400">
            <a:solidFill>
              <a:srgbClr val="3B82F6"/>
            </a:solidFill>
            <a:prstDash val="solid"/>
          </a:ln>
        </p:spPr>
      </p:sp>
      <p:sp>
        <p:nvSpPr>
          <p:cNvPr id="5" name="Text 3"/>
          <p:cNvSpPr/>
          <p:nvPr/>
        </p:nvSpPr>
        <p:spPr>
          <a:xfrm>
            <a:off x="640080" y="1965960"/>
            <a:ext cx="1828800" cy="365760"/>
          </a:xfrm>
          <a:prstGeom prst="rect">
            <a:avLst/>
          </a:prstGeom>
          <a:noFill/>
          <a:ln/>
        </p:spPr>
        <p:txBody>
          <a:bodyPr wrap="square" rtlCol="0" anchor="ctr"/>
          <a:lstStyle/>
          <a:p>
            <a:pPr algn="ctr" indent="0" marL="0">
              <a:buNone/>
            </a:pPr>
            <a:r>
              <a:rPr lang="en-US" sz="1400" b="1" dirty="0">
                <a:solidFill>
                  <a:srgbClr val="3B82F6"/>
                </a:solidFill>
              </a:rPr>
              <a:t>User Intent</a:t>
            </a:r>
            <a:endParaRPr lang="en-US" sz="1400" dirty="0"/>
          </a:p>
        </p:txBody>
      </p:sp>
      <p:sp>
        <p:nvSpPr>
          <p:cNvPr id="6" name="Text 4"/>
          <p:cNvSpPr/>
          <p:nvPr/>
        </p:nvSpPr>
        <p:spPr>
          <a:xfrm>
            <a:off x="731520" y="2377440"/>
            <a:ext cx="1645920" cy="914400"/>
          </a:xfrm>
          <a:prstGeom prst="rect">
            <a:avLst/>
          </a:prstGeom>
          <a:noFill/>
          <a:ln/>
        </p:spPr>
        <p:txBody>
          <a:bodyPr wrap="square" rtlCol="0" anchor="t"/>
          <a:lstStyle/>
          <a:p>
            <a:pPr algn="ctr" indent="0" marL="0">
              <a:buNone/>
            </a:pPr>
            <a:r>
              <a:rPr lang="en-US" sz="1100" dirty="0">
                <a:solidFill>
                  <a:srgbClr val="1F2937"/>
                </a:solidFill>
              </a:rPr>
              <a:t>"Buy 100k AAPL</a:t>
            </a:r>
            <a:endParaRPr lang="en-US" sz="1100" dirty="0"/>
          </a:p>
          <a:p>
            <a:pPr algn="ctr" indent="0" marL="0">
              <a:buNone/>
            </a:pPr>
            <a:r>
              <a:rPr lang="en-US" sz="1100" dirty="0">
                <a:solidFill>
                  <a:srgbClr val="1F2937"/>
                </a:solidFill>
              </a:rPr>
              <a:t>with minimal</a:t>
            </a:r>
            <a:endParaRPr lang="en-US" sz="1100" dirty="0"/>
          </a:p>
          <a:p>
            <a:pPr algn="ctr" indent="0" marL="0">
              <a:buNone/>
            </a:pPr>
            <a:r>
              <a:rPr lang="en-US" sz="1100" dirty="0">
                <a:solidFill>
                  <a:srgbClr val="1F2937"/>
                </a:solidFill>
              </a:rPr>
              <a:t>impact"</a:t>
            </a:r>
            <a:endParaRPr lang="en-US" sz="1100" dirty="0"/>
          </a:p>
        </p:txBody>
      </p:sp>
      <p:sp>
        <p:nvSpPr>
          <p:cNvPr id="7" name="Shape 5"/>
          <p:cNvSpPr/>
          <p:nvPr/>
        </p:nvSpPr>
        <p:spPr>
          <a:xfrm>
            <a:off x="2560320" y="2514600"/>
            <a:ext cx="640080" cy="274320"/>
          </a:xfrm>
          <a:prstGeom prst="rightArrow">
            <a:avLst/>
          </a:prstGeom>
          <a:solidFill>
            <a:srgbClr val="6B7280"/>
          </a:solidFill>
          <a:ln/>
        </p:spPr>
      </p:sp>
      <p:sp>
        <p:nvSpPr>
          <p:cNvPr id="8" name="Shape 6"/>
          <p:cNvSpPr/>
          <p:nvPr/>
        </p:nvSpPr>
        <p:spPr>
          <a:xfrm>
            <a:off x="2743200" y="1828800"/>
            <a:ext cx="1828800" cy="1645920"/>
          </a:xfrm>
          <a:prstGeom prst="rect">
            <a:avLst/>
          </a:prstGeom>
          <a:solidFill>
            <a:srgbClr val="F59E0B">
              <a:alpha val="90000"/>
            </a:srgbClr>
          </a:solidFill>
          <a:ln w="25400">
            <a:solidFill>
              <a:srgbClr val="F59E0B"/>
            </a:solidFill>
            <a:prstDash val="solid"/>
          </a:ln>
        </p:spPr>
      </p:sp>
      <p:sp>
        <p:nvSpPr>
          <p:cNvPr id="9" name="Text 7"/>
          <p:cNvSpPr/>
          <p:nvPr/>
        </p:nvSpPr>
        <p:spPr>
          <a:xfrm>
            <a:off x="2743200" y="1965960"/>
            <a:ext cx="1828800" cy="365760"/>
          </a:xfrm>
          <a:prstGeom prst="rect">
            <a:avLst/>
          </a:prstGeom>
          <a:noFill/>
          <a:ln/>
        </p:spPr>
        <p:txBody>
          <a:bodyPr wrap="square" rtlCol="0" anchor="ctr"/>
          <a:lstStyle/>
          <a:p>
            <a:pPr algn="ctr" indent="0" marL="0">
              <a:buNone/>
            </a:pPr>
            <a:r>
              <a:rPr lang="en-US" sz="1400" b="1" dirty="0">
                <a:solidFill>
                  <a:srgbClr val="F59E0B"/>
                </a:solidFill>
              </a:rPr>
              <a:t>AI Processing</a:t>
            </a:r>
            <a:endParaRPr lang="en-US" sz="1400" dirty="0"/>
          </a:p>
        </p:txBody>
      </p:sp>
      <p:sp>
        <p:nvSpPr>
          <p:cNvPr id="10" name="Text 8"/>
          <p:cNvSpPr/>
          <p:nvPr/>
        </p:nvSpPr>
        <p:spPr>
          <a:xfrm>
            <a:off x="2834640" y="2377440"/>
            <a:ext cx="1645920" cy="914400"/>
          </a:xfrm>
          <a:prstGeom prst="rect">
            <a:avLst/>
          </a:prstGeom>
          <a:noFill/>
          <a:ln/>
        </p:spPr>
        <p:txBody>
          <a:bodyPr wrap="square" rtlCol="0" anchor="t"/>
          <a:lstStyle/>
          <a:p>
            <a:pPr algn="ctr" indent="0" marL="0">
              <a:buNone/>
            </a:pPr>
            <a:r>
              <a:rPr lang="en-US" sz="1100" dirty="0">
                <a:solidFill>
                  <a:srgbClr val="1F2937"/>
                </a:solidFill>
              </a:rPr>
              <a:t>NLP +</a:t>
            </a:r>
            <a:endParaRPr lang="en-US" sz="1100" dirty="0"/>
          </a:p>
          <a:p>
            <a:pPr algn="ctr" indent="0" marL="0">
              <a:buNone/>
            </a:pPr>
            <a:r>
              <a:rPr lang="en-US" sz="1100" dirty="0">
                <a:solidFill>
                  <a:srgbClr val="1F2937"/>
                </a:solidFill>
              </a:rPr>
              <a:t>Context</a:t>
            </a:r>
            <a:endParaRPr lang="en-US" sz="1100" dirty="0"/>
          </a:p>
          <a:p>
            <a:pPr algn="ctr" indent="0" marL="0">
              <a:buNone/>
            </a:pPr>
            <a:r>
              <a:rPr lang="en-US" sz="1100" dirty="0">
                <a:solidFill>
                  <a:srgbClr val="1F2937"/>
                </a:solidFill>
              </a:rPr>
              <a:t>Analysis</a:t>
            </a:r>
            <a:endParaRPr lang="en-US" sz="1100" dirty="0"/>
          </a:p>
        </p:txBody>
      </p:sp>
      <p:sp>
        <p:nvSpPr>
          <p:cNvPr id="11" name="Shape 9"/>
          <p:cNvSpPr/>
          <p:nvPr/>
        </p:nvSpPr>
        <p:spPr>
          <a:xfrm>
            <a:off x="4663440" y="2514600"/>
            <a:ext cx="640080" cy="274320"/>
          </a:xfrm>
          <a:prstGeom prst="rightArrow">
            <a:avLst/>
          </a:prstGeom>
          <a:solidFill>
            <a:srgbClr val="6B7280"/>
          </a:solidFill>
          <a:ln/>
        </p:spPr>
      </p:sp>
      <p:sp>
        <p:nvSpPr>
          <p:cNvPr id="12" name="Shape 10"/>
          <p:cNvSpPr/>
          <p:nvPr/>
        </p:nvSpPr>
        <p:spPr>
          <a:xfrm>
            <a:off x="4846320" y="1828800"/>
            <a:ext cx="1828800" cy="1645920"/>
          </a:xfrm>
          <a:prstGeom prst="rect">
            <a:avLst/>
          </a:prstGeom>
          <a:solidFill>
            <a:srgbClr val="10B981">
              <a:alpha val="90000"/>
            </a:srgbClr>
          </a:solidFill>
          <a:ln w="25400">
            <a:solidFill>
              <a:srgbClr val="10B981"/>
            </a:solidFill>
            <a:prstDash val="solid"/>
          </a:ln>
        </p:spPr>
      </p:sp>
      <p:sp>
        <p:nvSpPr>
          <p:cNvPr id="13" name="Text 11"/>
          <p:cNvSpPr/>
          <p:nvPr/>
        </p:nvSpPr>
        <p:spPr>
          <a:xfrm>
            <a:off x="4846320" y="1965960"/>
            <a:ext cx="1828800" cy="365760"/>
          </a:xfrm>
          <a:prstGeom prst="rect">
            <a:avLst/>
          </a:prstGeom>
          <a:noFill/>
          <a:ln/>
        </p:spPr>
        <p:txBody>
          <a:bodyPr wrap="square" rtlCol="0" anchor="ctr"/>
          <a:lstStyle/>
          <a:p>
            <a:pPr algn="ctr" indent="0" marL="0">
              <a:buNone/>
            </a:pPr>
            <a:r>
              <a:rPr lang="en-US" sz="1400" b="1" dirty="0">
                <a:solidFill>
                  <a:srgbClr val="10B981"/>
                </a:solidFill>
              </a:rPr>
              <a:t>Structured Order</a:t>
            </a:r>
            <a:endParaRPr lang="en-US" sz="1400" dirty="0"/>
          </a:p>
        </p:txBody>
      </p:sp>
      <p:sp>
        <p:nvSpPr>
          <p:cNvPr id="14" name="Text 12"/>
          <p:cNvSpPr/>
          <p:nvPr/>
        </p:nvSpPr>
        <p:spPr>
          <a:xfrm>
            <a:off x="4937760" y="2377440"/>
            <a:ext cx="1645920" cy="914400"/>
          </a:xfrm>
          <a:prstGeom prst="rect">
            <a:avLst/>
          </a:prstGeom>
          <a:noFill/>
          <a:ln/>
        </p:spPr>
        <p:txBody>
          <a:bodyPr wrap="square" rtlCol="0" anchor="t"/>
          <a:lstStyle/>
          <a:p>
            <a:pPr algn="ctr" indent="0" marL="0">
              <a:buNone/>
            </a:pPr>
            <a:r>
              <a:rPr lang="en-US" sz="1100" dirty="0">
                <a:solidFill>
                  <a:srgbClr val="1F2937"/>
                </a:solidFill>
              </a:rPr>
              <a:t>Security: AAPL</a:t>
            </a:r>
            <a:endParaRPr lang="en-US" sz="1100" dirty="0"/>
          </a:p>
          <a:p>
            <a:pPr algn="ctr" indent="0" marL="0">
              <a:buNone/>
            </a:pPr>
            <a:r>
              <a:rPr lang="en-US" sz="1100" dirty="0">
                <a:solidFill>
                  <a:srgbClr val="1F2937"/>
                </a:solidFill>
              </a:rPr>
              <a:t>Qty: 100,000</a:t>
            </a:r>
            <a:endParaRPr lang="en-US" sz="1100" dirty="0"/>
          </a:p>
          <a:p>
            <a:pPr algn="ctr" indent="0" marL="0">
              <a:buNone/>
            </a:pPr>
            <a:r>
              <a:rPr lang="en-US" sz="1100" dirty="0">
                <a:solidFill>
                  <a:srgbClr val="1F2937"/>
                </a:solidFill>
              </a:rPr>
              <a:t>Strategy: VWAP</a:t>
            </a:r>
            <a:endParaRPr lang="en-US" sz="1100" dirty="0"/>
          </a:p>
        </p:txBody>
      </p:sp>
      <p:sp>
        <p:nvSpPr>
          <p:cNvPr id="15" name="Shape 13"/>
          <p:cNvSpPr/>
          <p:nvPr/>
        </p:nvSpPr>
        <p:spPr>
          <a:xfrm>
            <a:off x="6766560" y="2514600"/>
            <a:ext cx="640080" cy="274320"/>
          </a:xfrm>
          <a:prstGeom prst="rightArrow">
            <a:avLst/>
          </a:prstGeom>
          <a:solidFill>
            <a:srgbClr val="6B7280"/>
          </a:solidFill>
          <a:ln/>
        </p:spPr>
      </p:sp>
      <p:sp>
        <p:nvSpPr>
          <p:cNvPr id="16" name="Shape 14"/>
          <p:cNvSpPr/>
          <p:nvPr/>
        </p:nvSpPr>
        <p:spPr>
          <a:xfrm>
            <a:off x="6949440" y="1828800"/>
            <a:ext cx="1828800" cy="1645920"/>
          </a:xfrm>
          <a:prstGeom prst="rect">
            <a:avLst/>
          </a:prstGeom>
          <a:solidFill>
            <a:srgbClr val="1E3A8A">
              <a:alpha val="90000"/>
            </a:srgbClr>
          </a:solidFill>
          <a:ln w="25400">
            <a:solidFill>
              <a:srgbClr val="1E3A8A"/>
            </a:solidFill>
            <a:prstDash val="solid"/>
          </a:ln>
        </p:spPr>
      </p:sp>
      <p:sp>
        <p:nvSpPr>
          <p:cNvPr id="17" name="Text 15"/>
          <p:cNvSpPr/>
          <p:nvPr/>
        </p:nvSpPr>
        <p:spPr>
          <a:xfrm>
            <a:off x="6949440" y="1965960"/>
            <a:ext cx="1828800" cy="365760"/>
          </a:xfrm>
          <a:prstGeom prst="rect">
            <a:avLst/>
          </a:prstGeom>
          <a:noFill/>
          <a:ln/>
        </p:spPr>
        <p:txBody>
          <a:bodyPr wrap="square" rtlCol="0" anchor="ctr"/>
          <a:lstStyle/>
          <a:p>
            <a:pPr algn="ctr" indent="0" marL="0">
              <a:buNone/>
            </a:pPr>
            <a:r>
              <a:rPr lang="en-US" sz="1400" b="1" dirty="0">
                <a:solidFill>
                  <a:srgbClr val="1E3A8A"/>
                </a:solidFill>
              </a:rPr>
              <a:t>Human Review</a:t>
            </a:r>
            <a:endParaRPr lang="en-US" sz="1400" dirty="0"/>
          </a:p>
        </p:txBody>
      </p:sp>
      <p:sp>
        <p:nvSpPr>
          <p:cNvPr id="18" name="Text 16"/>
          <p:cNvSpPr/>
          <p:nvPr/>
        </p:nvSpPr>
        <p:spPr>
          <a:xfrm>
            <a:off x="7040880" y="2377440"/>
            <a:ext cx="1645920" cy="914400"/>
          </a:xfrm>
          <a:prstGeom prst="rect">
            <a:avLst/>
          </a:prstGeom>
          <a:noFill/>
          <a:ln/>
        </p:spPr>
        <p:txBody>
          <a:bodyPr wrap="square" rtlCol="0" anchor="t"/>
          <a:lstStyle/>
          <a:p>
            <a:pPr algn="ctr" indent="0" marL="0">
              <a:buNone/>
            </a:pPr>
            <a:r>
              <a:rPr lang="en-US" sz="1100" dirty="0">
                <a:solidFill>
                  <a:srgbClr val="1F2937"/>
                </a:solidFill>
              </a:rPr>
              <a:t>✓ Approve</a:t>
            </a:r>
            <a:endParaRPr lang="en-US" sz="1100" dirty="0"/>
          </a:p>
          <a:p>
            <a:pPr algn="ctr" indent="0" marL="0">
              <a:buNone/>
            </a:pPr>
            <a:r>
              <a:rPr lang="en-US" sz="1100" dirty="0">
                <a:solidFill>
                  <a:srgbClr val="1F2937"/>
                </a:solidFill>
              </a:rPr>
              <a:t>✓ Modify</a:t>
            </a:r>
            <a:endParaRPr lang="en-US" sz="1100" dirty="0"/>
          </a:p>
          <a:p>
            <a:pPr algn="ctr" indent="0" marL="0">
              <a:buNone/>
            </a:pPr>
            <a:r>
              <a:rPr lang="en-US" sz="1100" dirty="0">
                <a:solidFill>
                  <a:srgbClr val="1F2937"/>
                </a:solidFill>
              </a:rPr>
              <a:t>✗ Reject</a:t>
            </a:r>
            <a:endParaRPr lang="en-US" sz="1100" dirty="0"/>
          </a:p>
        </p:txBody>
      </p:sp>
      <p:sp>
        <p:nvSpPr>
          <p:cNvPr id="19" name="Shape 17"/>
          <p:cNvSpPr/>
          <p:nvPr/>
        </p:nvSpPr>
        <p:spPr>
          <a:xfrm>
            <a:off x="1371600" y="3840480"/>
            <a:ext cx="2011680" cy="1280160"/>
          </a:xfrm>
          <a:prstGeom prst="rect">
            <a:avLst/>
          </a:prstGeom>
          <a:solidFill>
            <a:srgbClr val="FFFFFF"/>
          </a:solidFill>
          <a:ln w="12700">
            <a:solidFill>
              <a:srgbClr val="3B82F6"/>
            </a:solidFill>
            <a:prstDash val="solid"/>
          </a:ln>
        </p:spPr>
      </p:sp>
      <p:sp>
        <p:nvSpPr>
          <p:cNvPr id="20" name="Text 18"/>
          <p:cNvSpPr/>
          <p:nvPr/>
        </p:nvSpPr>
        <p:spPr>
          <a:xfrm>
            <a:off x="2103120" y="3977640"/>
            <a:ext cx="548640" cy="45720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21" name="Text 19"/>
          <p:cNvSpPr/>
          <p:nvPr/>
        </p:nvSpPr>
        <p:spPr>
          <a:xfrm>
            <a:off x="1463040" y="4480560"/>
            <a:ext cx="1828800" cy="274320"/>
          </a:xfrm>
          <a:prstGeom prst="rect">
            <a:avLst/>
          </a:prstGeom>
          <a:noFill/>
          <a:ln/>
        </p:spPr>
        <p:txBody>
          <a:bodyPr wrap="square" rtlCol="0" anchor="ctr"/>
          <a:lstStyle/>
          <a:p>
            <a:pPr algn="ctr" indent="0" marL="0">
              <a:buNone/>
            </a:pPr>
            <a:r>
              <a:rPr lang="en-US" sz="1400" b="1" dirty="0">
                <a:solidFill>
                  <a:srgbClr val="1E3A8A"/>
                </a:solidFill>
              </a:rPr>
              <a:t>Natural Language</a:t>
            </a:r>
            <a:endParaRPr lang="en-US" sz="1400" dirty="0"/>
          </a:p>
        </p:txBody>
      </p:sp>
      <p:sp>
        <p:nvSpPr>
          <p:cNvPr id="22" name="Text 20"/>
          <p:cNvSpPr/>
          <p:nvPr/>
        </p:nvSpPr>
        <p:spPr>
          <a:xfrm>
            <a:off x="1463040" y="4754880"/>
            <a:ext cx="1828800" cy="274320"/>
          </a:xfrm>
          <a:prstGeom prst="rect">
            <a:avLst/>
          </a:prstGeom>
          <a:noFill/>
          <a:ln/>
        </p:spPr>
        <p:txBody>
          <a:bodyPr wrap="square" rtlCol="0" anchor="ctr"/>
          <a:lstStyle/>
          <a:p>
            <a:pPr algn="ctr" indent="0" marL="0">
              <a:buNone/>
            </a:pPr>
            <a:r>
              <a:rPr lang="en-US" sz="1100" dirty="0">
                <a:solidFill>
                  <a:srgbClr val="6B7280"/>
                </a:solidFill>
              </a:rPr>
              <a:t>Traders express intent, not fill forms</a:t>
            </a:r>
            <a:endParaRPr lang="en-US" sz="1100" dirty="0"/>
          </a:p>
        </p:txBody>
      </p:sp>
      <p:sp>
        <p:nvSpPr>
          <p:cNvPr id="23" name="Shape 21"/>
          <p:cNvSpPr/>
          <p:nvPr/>
        </p:nvSpPr>
        <p:spPr>
          <a:xfrm>
            <a:off x="3657600" y="3840480"/>
            <a:ext cx="2011680" cy="1280160"/>
          </a:xfrm>
          <a:prstGeom prst="rect">
            <a:avLst/>
          </a:prstGeom>
          <a:solidFill>
            <a:srgbClr val="FFFFFF"/>
          </a:solidFill>
          <a:ln w="12700">
            <a:solidFill>
              <a:srgbClr val="3B82F6"/>
            </a:solidFill>
            <a:prstDash val="solid"/>
          </a:ln>
        </p:spPr>
      </p:sp>
      <p:sp>
        <p:nvSpPr>
          <p:cNvPr id="24" name="Text 22"/>
          <p:cNvSpPr/>
          <p:nvPr/>
        </p:nvSpPr>
        <p:spPr>
          <a:xfrm>
            <a:off x="4389120" y="3977640"/>
            <a:ext cx="548640" cy="45720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25" name="Text 23"/>
          <p:cNvSpPr/>
          <p:nvPr/>
        </p:nvSpPr>
        <p:spPr>
          <a:xfrm>
            <a:off x="3749040" y="4480560"/>
            <a:ext cx="1828800" cy="274320"/>
          </a:xfrm>
          <a:prstGeom prst="rect">
            <a:avLst/>
          </a:prstGeom>
          <a:noFill/>
          <a:ln/>
        </p:spPr>
        <p:txBody>
          <a:bodyPr wrap="square" rtlCol="0" anchor="ctr"/>
          <a:lstStyle/>
          <a:p>
            <a:pPr algn="ctr" indent="0" marL="0">
              <a:buNone/>
            </a:pPr>
            <a:r>
              <a:rPr lang="en-US" sz="1400" b="1" dirty="0">
                <a:solidFill>
                  <a:srgbClr val="1E3A8A"/>
                </a:solidFill>
              </a:rPr>
              <a:t>Real-Time</a:t>
            </a:r>
            <a:endParaRPr lang="en-US" sz="1400" dirty="0"/>
          </a:p>
        </p:txBody>
      </p:sp>
      <p:sp>
        <p:nvSpPr>
          <p:cNvPr id="26" name="Text 24"/>
          <p:cNvSpPr/>
          <p:nvPr/>
        </p:nvSpPr>
        <p:spPr>
          <a:xfrm>
            <a:off x="3749040" y="4754880"/>
            <a:ext cx="1828800" cy="274320"/>
          </a:xfrm>
          <a:prstGeom prst="rect">
            <a:avLst/>
          </a:prstGeom>
          <a:noFill/>
          <a:ln/>
        </p:spPr>
        <p:txBody>
          <a:bodyPr wrap="square" rtlCol="0" anchor="ctr"/>
          <a:lstStyle/>
          <a:p>
            <a:pPr algn="ctr" indent="0" marL="0">
              <a:buNone/>
            </a:pPr>
            <a:r>
              <a:rPr lang="en-US" sz="1100" dirty="0">
                <a:solidFill>
                  <a:srgbClr val="6B7280"/>
                </a:solidFill>
              </a:rPr>
              <a:t>Validation &amp; enrichment in seconds</a:t>
            </a:r>
            <a:endParaRPr lang="en-US" sz="1100" dirty="0"/>
          </a:p>
        </p:txBody>
      </p:sp>
      <p:sp>
        <p:nvSpPr>
          <p:cNvPr id="27" name="Shape 25"/>
          <p:cNvSpPr/>
          <p:nvPr/>
        </p:nvSpPr>
        <p:spPr>
          <a:xfrm>
            <a:off x="5943600" y="3840480"/>
            <a:ext cx="2011680" cy="1280160"/>
          </a:xfrm>
          <a:prstGeom prst="rect">
            <a:avLst/>
          </a:prstGeom>
          <a:solidFill>
            <a:srgbClr val="FFFFFF"/>
          </a:solidFill>
          <a:ln w="12700">
            <a:solidFill>
              <a:srgbClr val="3B82F6"/>
            </a:solidFill>
            <a:prstDash val="solid"/>
          </a:ln>
        </p:spPr>
      </p:sp>
      <p:sp>
        <p:nvSpPr>
          <p:cNvPr id="28" name="Text 26"/>
          <p:cNvSpPr/>
          <p:nvPr/>
        </p:nvSpPr>
        <p:spPr>
          <a:xfrm>
            <a:off x="6675120" y="3977640"/>
            <a:ext cx="548640" cy="45720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29" name="Text 27"/>
          <p:cNvSpPr/>
          <p:nvPr/>
        </p:nvSpPr>
        <p:spPr>
          <a:xfrm>
            <a:off x="6035040" y="4480560"/>
            <a:ext cx="1828800" cy="274320"/>
          </a:xfrm>
          <a:prstGeom prst="rect">
            <a:avLst/>
          </a:prstGeom>
          <a:noFill/>
          <a:ln/>
        </p:spPr>
        <p:txBody>
          <a:bodyPr wrap="square" rtlCol="0" anchor="ctr"/>
          <a:lstStyle/>
          <a:p>
            <a:pPr algn="ctr" indent="0" marL="0">
              <a:buNone/>
            </a:pPr>
            <a:r>
              <a:rPr lang="en-US" sz="1400" b="1" dirty="0">
                <a:solidFill>
                  <a:srgbClr val="1E3A8A"/>
                </a:solidFill>
              </a:rPr>
              <a:t>Human Control</a:t>
            </a:r>
            <a:endParaRPr lang="en-US" sz="1400" dirty="0"/>
          </a:p>
        </p:txBody>
      </p:sp>
      <p:sp>
        <p:nvSpPr>
          <p:cNvPr id="30" name="Text 28"/>
          <p:cNvSpPr/>
          <p:nvPr/>
        </p:nvSpPr>
        <p:spPr>
          <a:xfrm>
            <a:off x="6035040" y="4754880"/>
            <a:ext cx="1828800" cy="274320"/>
          </a:xfrm>
          <a:prstGeom prst="rect">
            <a:avLst/>
          </a:prstGeom>
          <a:noFill/>
          <a:ln/>
        </p:spPr>
        <p:txBody>
          <a:bodyPr wrap="square" rtlCol="0" anchor="ctr"/>
          <a:lstStyle/>
          <a:p>
            <a:pPr algn="ctr" indent="0" marL="0">
              <a:buNone/>
            </a:pPr>
            <a:r>
              <a:rPr lang="en-US" sz="1100" dirty="0">
                <a:solidFill>
                  <a:srgbClr val="6B7280"/>
                </a:solidFill>
              </a:rPr>
              <a:t>Review and approve every order</a:t>
            </a:r>
            <a:endParaRPr lang="en-US" sz="1100" dirty="0"/>
          </a:p>
        </p:txBody>
      </p:sp>
      <p:sp>
        <p:nvSpPr>
          <p:cNvPr id="31" name="Shape 29"/>
          <p:cNvSpPr/>
          <p:nvPr/>
        </p:nvSpPr>
        <p:spPr>
          <a:xfrm>
            <a:off x="457200" y="5669280"/>
            <a:ext cx="8229600" cy="548640"/>
          </a:xfrm>
          <a:prstGeom prst="rect">
            <a:avLst/>
          </a:prstGeom>
          <a:solidFill>
            <a:srgbClr val="10B981">
              <a:alpha val="85000"/>
            </a:srgbClr>
          </a:solidFill>
          <a:ln w="12700">
            <a:solidFill>
              <a:srgbClr val="333333"/>
            </a:solidFill>
            <a:prstDash val="solid"/>
          </a:ln>
        </p:spPr>
      </p:sp>
      <p:sp>
        <p:nvSpPr>
          <p:cNvPr id="32" name="Text 30"/>
          <p:cNvSpPr/>
          <p:nvPr/>
        </p:nvSpPr>
        <p:spPr>
          <a:xfrm>
            <a:off x="457200" y="5760720"/>
            <a:ext cx="8229600" cy="365760"/>
          </a:xfrm>
          <a:prstGeom prst="rect">
            <a:avLst/>
          </a:prstGeom>
          <a:noFill/>
          <a:ln/>
        </p:spPr>
        <p:txBody>
          <a:bodyPr wrap="square" rtlCol="0" anchor="ctr"/>
          <a:lstStyle/>
          <a:p>
            <a:pPr algn="ctr" indent="0" marL="0">
              <a:buNone/>
            </a:pPr>
            <a:r>
              <a:rPr lang="en-US" sz="1400" b="1" dirty="0">
                <a:solidFill>
                  <a:srgbClr val="10B981"/>
                </a:solidFill>
              </a:rPr>
              <a:t>This is decision support, not auto-trading — User always in control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1E3A8A"/>
                </a:solidFill>
              </a:rPr>
              <a:t>Intent to Strategy &amp; AI Insights</a:t>
            </a:r>
            <a:endParaRPr lang="en-US" sz="4000" dirty="0"/>
          </a:p>
        </p:txBody>
      </p:sp>
      <p:sp>
        <p:nvSpPr>
          <p:cNvPr id="3" name="Text 1"/>
          <p:cNvSpPr/>
          <p:nvPr/>
        </p:nvSpPr>
        <p:spPr>
          <a:xfrm>
            <a:off x="457200" y="960120"/>
            <a:ext cx="8229600" cy="365760"/>
          </a:xfrm>
          <a:prstGeom prst="rect">
            <a:avLst/>
          </a:prstGeom>
          <a:noFill/>
          <a:ln/>
        </p:spPr>
        <p:txBody>
          <a:bodyPr wrap="square" rtlCol="0" anchor="ctr"/>
          <a:lstStyle/>
          <a:p>
            <a:pPr indent="0" marL="0">
              <a:buNone/>
            </a:pPr>
            <a:r>
              <a:rPr lang="en-US" sz="1800" i="1" dirty="0">
                <a:solidFill>
                  <a:srgbClr val="6B7280"/>
                </a:solidFill>
              </a:rPr>
              <a:t>Smart Strategy Selection with User Control</a:t>
            </a:r>
            <a:endParaRPr lang="en-US" sz="1800" dirty="0"/>
          </a:p>
        </p:txBody>
      </p:sp>
      <p:sp>
        <p:nvSpPr>
          <p:cNvPr id="4" name="Shape 2"/>
          <p:cNvSpPr/>
          <p:nvPr/>
        </p:nvSpPr>
        <p:spPr>
          <a:xfrm>
            <a:off x="731520" y="1645920"/>
            <a:ext cx="2377440" cy="2011680"/>
          </a:xfrm>
          <a:prstGeom prst="rect">
            <a:avLst/>
          </a:prstGeom>
          <a:solidFill>
            <a:srgbClr val="FFFFFF"/>
          </a:solidFill>
          <a:ln w="38100">
            <a:solidFill>
              <a:srgbClr val="3B82F6"/>
            </a:solidFill>
            <a:prstDash val="solid"/>
          </a:ln>
        </p:spPr>
      </p:sp>
      <p:sp>
        <p:nvSpPr>
          <p:cNvPr id="5" name="Shape 3"/>
          <p:cNvSpPr/>
          <p:nvPr/>
        </p:nvSpPr>
        <p:spPr>
          <a:xfrm>
            <a:off x="731520" y="1645920"/>
            <a:ext cx="2377440" cy="548640"/>
          </a:xfrm>
          <a:prstGeom prst="rect">
            <a:avLst/>
          </a:prstGeom>
          <a:solidFill>
            <a:srgbClr val="3B82F6"/>
          </a:solidFill>
          <a:ln w="12700">
            <a:solidFill>
              <a:srgbClr val="333333"/>
            </a:solidFill>
            <a:prstDash val="solid"/>
          </a:ln>
        </p:spPr>
      </p:sp>
      <p:sp>
        <p:nvSpPr>
          <p:cNvPr id="6" name="Text 4"/>
          <p:cNvSpPr/>
          <p:nvPr/>
        </p:nvSpPr>
        <p:spPr>
          <a:xfrm>
            <a:off x="731520" y="1691640"/>
            <a:ext cx="2377440" cy="457200"/>
          </a:xfrm>
          <a:prstGeom prst="rect">
            <a:avLst/>
          </a:prstGeom>
          <a:noFill/>
          <a:ln/>
        </p:spPr>
        <p:txBody>
          <a:bodyPr wrap="square" rtlCol="0" anchor="ctr"/>
          <a:lstStyle/>
          <a:p>
            <a:pPr algn="ctr" indent="0" marL="0">
              <a:buNone/>
            </a:pPr>
            <a:r>
              <a:rPr lang="en-US" sz="2400" b="1" dirty="0">
                <a:solidFill>
                  <a:srgbClr val="FFFFFF"/>
                </a:solidFill>
              </a:rPr>
              <a:t>VWAP</a:t>
            </a:r>
            <a:endParaRPr lang="en-US" sz="2400" dirty="0"/>
          </a:p>
        </p:txBody>
      </p:sp>
      <p:sp>
        <p:nvSpPr>
          <p:cNvPr id="7" name="Text 5"/>
          <p:cNvSpPr/>
          <p:nvPr/>
        </p:nvSpPr>
        <p:spPr>
          <a:xfrm>
            <a:off x="914400" y="2331720"/>
            <a:ext cx="2011680" cy="548640"/>
          </a:xfrm>
          <a:prstGeom prst="rect">
            <a:avLst/>
          </a:prstGeom>
          <a:noFill/>
          <a:ln/>
        </p:spPr>
        <p:txBody>
          <a:bodyPr wrap="square" rtlCol="0" anchor="ctr"/>
          <a:lstStyle/>
          <a:p>
            <a:pPr algn="ctr" indent="0" marL="0">
              <a:buNone/>
            </a:pPr>
            <a:r>
              <a:rPr lang="en-US" sz="1100" b="1" dirty="0">
                <a:solidFill>
                  <a:srgbClr val="1F2937"/>
                </a:solidFill>
              </a:rPr>
              <a:t>Volume Weighted</a:t>
            </a:r>
            <a:endParaRPr lang="en-US" sz="1100" dirty="0"/>
          </a:p>
          <a:p>
            <a:pPr algn="ctr" indent="0" marL="0">
              <a:buNone/>
            </a:pPr>
            <a:r>
              <a:rPr lang="en-US" sz="1100" b="1" dirty="0">
                <a:solidFill>
                  <a:srgbClr val="1F2937"/>
                </a:solidFill>
              </a:rPr>
              <a:t>Average Price</a:t>
            </a:r>
            <a:endParaRPr lang="en-US" sz="1100" dirty="0"/>
          </a:p>
        </p:txBody>
      </p:sp>
      <p:sp>
        <p:nvSpPr>
          <p:cNvPr id="8" name="Text 6"/>
          <p:cNvSpPr/>
          <p:nvPr/>
        </p:nvSpPr>
        <p:spPr>
          <a:xfrm>
            <a:off x="914400" y="2971800"/>
            <a:ext cx="2011680" cy="548640"/>
          </a:xfrm>
          <a:prstGeom prst="rect">
            <a:avLst/>
          </a:prstGeom>
          <a:noFill/>
          <a:ln/>
        </p:spPr>
        <p:txBody>
          <a:bodyPr wrap="square" rtlCol="0" anchor="ctr"/>
          <a:lstStyle/>
          <a:p>
            <a:pPr algn="ctr" indent="0" marL="0">
              <a:buNone/>
            </a:pPr>
            <a:r>
              <a:rPr lang="en-US" sz="1000" dirty="0">
                <a:solidFill>
                  <a:srgbClr val="6B7280"/>
                </a:solidFill>
              </a:rPr>
              <a:t>Best for large orders</a:t>
            </a:r>
            <a:endParaRPr lang="en-US" sz="1000" dirty="0"/>
          </a:p>
          <a:p>
            <a:pPr algn="ctr" indent="0" marL="0">
              <a:buNone/>
            </a:pPr>
            <a:r>
              <a:rPr lang="en-US" sz="1000" dirty="0">
                <a:solidFill>
                  <a:srgbClr val="6B7280"/>
                </a:solidFill>
              </a:rPr>
              <a:t>Minimize market impact</a:t>
            </a:r>
            <a:endParaRPr lang="en-US" sz="1000" dirty="0"/>
          </a:p>
          <a:p>
            <a:pPr algn="ctr" indent="0" marL="0">
              <a:buNone/>
            </a:pPr>
            <a:r>
              <a:rPr lang="en-US" sz="1000" dirty="0">
                <a:solidFill>
                  <a:srgbClr val="6B7280"/>
                </a:solidFill>
              </a:rPr>
              <a:t>Trade with volume</a:t>
            </a:r>
            <a:endParaRPr lang="en-US" sz="1000" dirty="0"/>
          </a:p>
        </p:txBody>
      </p:sp>
      <p:sp>
        <p:nvSpPr>
          <p:cNvPr id="9" name="Shape 7"/>
          <p:cNvSpPr/>
          <p:nvPr/>
        </p:nvSpPr>
        <p:spPr>
          <a:xfrm>
            <a:off x="3474720" y="1645920"/>
            <a:ext cx="2377440" cy="2011680"/>
          </a:xfrm>
          <a:prstGeom prst="rect">
            <a:avLst/>
          </a:prstGeom>
          <a:solidFill>
            <a:srgbClr val="FFFFFF"/>
          </a:solidFill>
          <a:ln w="38100">
            <a:solidFill>
              <a:srgbClr val="8B5CF6"/>
            </a:solidFill>
            <a:prstDash val="solid"/>
          </a:ln>
        </p:spPr>
      </p:sp>
      <p:sp>
        <p:nvSpPr>
          <p:cNvPr id="10" name="Shape 8"/>
          <p:cNvSpPr/>
          <p:nvPr/>
        </p:nvSpPr>
        <p:spPr>
          <a:xfrm>
            <a:off x="3474720" y="1645920"/>
            <a:ext cx="2377440" cy="548640"/>
          </a:xfrm>
          <a:prstGeom prst="rect">
            <a:avLst/>
          </a:prstGeom>
          <a:solidFill>
            <a:srgbClr val="8B5CF6"/>
          </a:solidFill>
          <a:ln w="12700">
            <a:solidFill>
              <a:srgbClr val="333333"/>
            </a:solidFill>
            <a:prstDash val="solid"/>
          </a:ln>
        </p:spPr>
      </p:sp>
      <p:sp>
        <p:nvSpPr>
          <p:cNvPr id="11" name="Text 9"/>
          <p:cNvSpPr/>
          <p:nvPr/>
        </p:nvSpPr>
        <p:spPr>
          <a:xfrm>
            <a:off x="3474720" y="1691640"/>
            <a:ext cx="2377440" cy="457200"/>
          </a:xfrm>
          <a:prstGeom prst="rect">
            <a:avLst/>
          </a:prstGeom>
          <a:noFill/>
          <a:ln/>
        </p:spPr>
        <p:txBody>
          <a:bodyPr wrap="square" rtlCol="0" anchor="ctr"/>
          <a:lstStyle/>
          <a:p>
            <a:pPr algn="ctr" indent="0" marL="0">
              <a:buNone/>
            </a:pPr>
            <a:r>
              <a:rPr lang="en-US" sz="2400" b="1" dirty="0">
                <a:solidFill>
                  <a:srgbClr val="FFFFFF"/>
                </a:solidFill>
              </a:rPr>
              <a:t>TWAP</a:t>
            </a:r>
            <a:endParaRPr lang="en-US" sz="2400" dirty="0"/>
          </a:p>
        </p:txBody>
      </p:sp>
      <p:sp>
        <p:nvSpPr>
          <p:cNvPr id="12" name="Text 10"/>
          <p:cNvSpPr/>
          <p:nvPr/>
        </p:nvSpPr>
        <p:spPr>
          <a:xfrm>
            <a:off x="3657600" y="2331720"/>
            <a:ext cx="2011680" cy="548640"/>
          </a:xfrm>
          <a:prstGeom prst="rect">
            <a:avLst/>
          </a:prstGeom>
          <a:noFill/>
          <a:ln/>
        </p:spPr>
        <p:txBody>
          <a:bodyPr wrap="square" rtlCol="0" anchor="ctr"/>
          <a:lstStyle/>
          <a:p>
            <a:pPr algn="ctr" indent="0" marL="0">
              <a:buNone/>
            </a:pPr>
            <a:r>
              <a:rPr lang="en-US" sz="1100" b="1" dirty="0">
                <a:solidFill>
                  <a:srgbClr val="1F2937"/>
                </a:solidFill>
              </a:rPr>
              <a:t>Time Weighted</a:t>
            </a:r>
            <a:endParaRPr lang="en-US" sz="1100" dirty="0"/>
          </a:p>
          <a:p>
            <a:pPr algn="ctr" indent="0" marL="0">
              <a:buNone/>
            </a:pPr>
            <a:r>
              <a:rPr lang="en-US" sz="1100" b="1" dirty="0">
                <a:solidFill>
                  <a:srgbClr val="1F2937"/>
                </a:solidFill>
              </a:rPr>
              <a:t>Average Price</a:t>
            </a:r>
            <a:endParaRPr lang="en-US" sz="1100" dirty="0"/>
          </a:p>
        </p:txBody>
      </p:sp>
      <p:sp>
        <p:nvSpPr>
          <p:cNvPr id="13" name="Text 11"/>
          <p:cNvSpPr/>
          <p:nvPr/>
        </p:nvSpPr>
        <p:spPr>
          <a:xfrm>
            <a:off x="3657600" y="2971800"/>
            <a:ext cx="2011680" cy="548640"/>
          </a:xfrm>
          <a:prstGeom prst="rect">
            <a:avLst/>
          </a:prstGeom>
          <a:noFill/>
          <a:ln/>
        </p:spPr>
        <p:txBody>
          <a:bodyPr wrap="square" rtlCol="0" anchor="ctr"/>
          <a:lstStyle/>
          <a:p>
            <a:pPr algn="ctr" indent="0" marL="0">
              <a:buNone/>
            </a:pPr>
            <a:r>
              <a:rPr lang="en-US" sz="1000" dirty="0">
                <a:solidFill>
                  <a:srgbClr val="6B7280"/>
                </a:solidFill>
              </a:rPr>
              <a:t>Steady execution pace</a:t>
            </a:r>
            <a:endParaRPr lang="en-US" sz="1000" dirty="0"/>
          </a:p>
          <a:p>
            <a:pPr algn="ctr" indent="0" marL="0">
              <a:buNone/>
            </a:pPr>
            <a:r>
              <a:rPr lang="en-US" sz="1000" dirty="0">
                <a:solidFill>
                  <a:srgbClr val="6B7280"/>
                </a:solidFill>
              </a:rPr>
              <a:t>Time-based slicing</a:t>
            </a:r>
            <a:endParaRPr lang="en-US" sz="1000" dirty="0"/>
          </a:p>
          <a:p>
            <a:pPr algn="ctr" indent="0" marL="0">
              <a:buNone/>
            </a:pPr>
            <a:r>
              <a:rPr lang="en-US" sz="1000" dirty="0">
                <a:solidFill>
                  <a:srgbClr val="6B7280"/>
                </a:solidFill>
              </a:rPr>
              <a:t>Predictable flow</a:t>
            </a:r>
            <a:endParaRPr lang="en-US" sz="1000" dirty="0"/>
          </a:p>
        </p:txBody>
      </p:sp>
      <p:sp>
        <p:nvSpPr>
          <p:cNvPr id="14" name="Shape 12"/>
          <p:cNvSpPr/>
          <p:nvPr/>
        </p:nvSpPr>
        <p:spPr>
          <a:xfrm>
            <a:off x="6217920" y="1645920"/>
            <a:ext cx="2377440" cy="2011680"/>
          </a:xfrm>
          <a:prstGeom prst="rect">
            <a:avLst/>
          </a:prstGeom>
          <a:solidFill>
            <a:srgbClr val="FFFFFF"/>
          </a:solidFill>
          <a:ln w="38100">
            <a:solidFill>
              <a:srgbClr val="10B981"/>
            </a:solidFill>
            <a:prstDash val="solid"/>
          </a:ln>
        </p:spPr>
      </p:sp>
      <p:sp>
        <p:nvSpPr>
          <p:cNvPr id="15" name="Shape 13"/>
          <p:cNvSpPr/>
          <p:nvPr/>
        </p:nvSpPr>
        <p:spPr>
          <a:xfrm>
            <a:off x="6217920" y="1645920"/>
            <a:ext cx="2377440" cy="548640"/>
          </a:xfrm>
          <a:prstGeom prst="rect">
            <a:avLst/>
          </a:prstGeom>
          <a:solidFill>
            <a:srgbClr val="10B981"/>
          </a:solidFill>
          <a:ln w="12700">
            <a:solidFill>
              <a:srgbClr val="333333"/>
            </a:solidFill>
            <a:prstDash val="solid"/>
          </a:ln>
        </p:spPr>
      </p:sp>
      <p:sp>
        <p:nvSpPr>
          <p:cNvPr id="16" name="Text 14"/>
          <p:cNvSpPr/>
          <p:nvPr/>
        </p:nvSpPr>
        <p:spPr>
          <a:xfrm>
            <a:off x="6217920" y="1691640"/>
            <a:ext cx="2377440" cy="457200"/>
          </a:xfrm>
          <a:prstGeom prst="rect">
            <a:avLst/>
          </a:prstGeom>
          <a:noFill/>
          <a:ln/>
        </p:spPr>
        <p:txBody>
          <a:bodyPr wrap="square" rtlCol="0" anchor="ctr"/>
          <a:lstStyle/>
          <a:p>
            <a:pPr algn="ctr" indent="0" marL="0">
              <a:buNone/>
            </a:pPr>
            <a:r>
              <a:rPr lang="en-US" sz="2400" b="1" dirty="0">
                <a:solidFill>
                  <a:srgbClr val="FFFFFF"/>
                </a:solidFill>
              </a:rPr>
              <a:t>POV</a:t>
            </a:r>
            <a:endParaRPr lang="en-US" sz="2400" dirty="0"/>
          </a:p>
        </p:txBody>
      </p:sp>
      <p:sp>
        <p:nvSpPr>
          <p:cNvPr id="17" name="Text 15"/>
          <p:cNvSpPr/>
          <p:nvPr/>
        </p:nvSpPr>
        <p:spPr>
          <a:xfrm>
            <a:off x="6400800" y="2331720"/>
            <a:ext cx="2011680" cy="548640"/>
          </a:xfrm>
          <a:prstGeom prst="rect">
            <a:avLst/>
          </a:prstGeom>
          <a:noFill/>
          <a:ln/>
        </p:spPr>
        <p:txBody>
          <a:bodyPr wrap="square" rtlCol="0" anchor="ctr"/>
          <a:lstStyle/>
          <a:p>
            <a:pPr algn="ctr" indent="0" marL="0">
              <a:buNone/>
            </a:pPr>
            <a:r>
              <a:rPr lang="en-US" sz="1100" b="1" dirty="0">
                <a:solidFill>
                  <a:srgbClr val="1F2937"/>
                </a:solidFill>
              </a:rPr>
              <a:t>Percentage</a:t>
            </a:r>
            <a:endParaRPr lang="en-US" sz="1100" dirty="0"/>
          </a:p>
          <a:p>
            <a:pPr algn="ctr" indent="0" marL="0">
              <a:buNone/>
            </a:pPr>
            <a:r>
              <a:rPr lang="en-US" sz="1100" b="1" dirty="0">
                <a:solidFill>
                  <a:srgbClr val="1F2937"/>
                </a:solidFill>
              </a:rPr>
              <a:t>of Volume</a:t>
            </a:r>
            <a:endParaRPr lang="en-US" sz="1100" dirty="0"/>
          </a:p>
        </p:txBody>
      </p:sp>
      <p:sp>
        <p:nvSpPr>
          <p:cNvPr id="18" name="Text 16"/>
          <p:cNvSpPr/>
          <p:nvPr/>
        </p:nvSpPr>
        <p:spPr>
          <a:xfrm>
            <a:off x="6400800" y="2971800"/>
            <a:ext cx="2011680" cy="548640"/>
          </a:xfrm>
          <a:prstGeom prst="rect">
            <a:avLst/>
          </a:prstGeom>
          <a:noFill/>
          <a:ln/>
        </p:spPr>
        <p:txBody>
          <a:bodyPr wrap="square" rtlCol="0" anchor="ctr"/>
          <a:lstStyle/>
          <a:p>
            <a:pPr algn="ctr" indent="0" marL="0">
              <a:buNone/>
            </a:pPr>
            <a:r>
              <a:rPr lang="en-US" sz="1000" dirty="0">
                <a:solidFill>
                  <a:srgbClr val="6B7280"/>
                </a:solidFill>
              </a:rPr>
              <a:t>Follow market rhythm</a:t>
            </a:r>
            <a:endParaRPr lang="en-US" sz="1000" dirty="0"/>
          </a:p>
          <a:p>
            <a:pPr algn="ctr" indent="0" marL="0">
              <a:buNone/>
            </a:pPr>
            <a:r>
              <a:rPr lang="en-US" sz="1000" dirty="0">
                <a:solidFill>
                  <a:srgbClr val="6B7280"/>
                </a:solidFill>
              </a:rPr>
              <a:t>Adapt to liquidity</a:t>
            </a:r>
            <a:endParaRPr lang="en-US" sz="1000" dirty="0"/>
          </a:p>
          <a:p>
            <a:pPr algn="ctr" indent="0" marL="0">
              <a:buNone/>
            </a:pPr>
            <a:r>
              <a:rPr lang="en-US" sz="1000" dirty="0">
                <a:solidFill>
                  <a:srgbClr val="6B7280"/>
                </a:solidFill>
              </a:rPr>
              <a:t>Dynamic participation</a:t>
            </a:r>
            <a:endParaRPr lang="en-US" sz="1000" dirty="0"/>
          </a:p>
        </p:txBody>
      </p:sp>
      <p:sp>
        <p:nvSpPr>
          <p:cNvPr id="19" name="Text 17"/>
          <p:cNvSpPr/>
          <p:nvPr/>
        </p:nvSpPr>
        <p:spPr>
          <a:xfrm>
            <a:off x="731520" y="3794760"/>
            <a:ext cx="7680960" cy="274320"/>
          </a:xfrm>
          <a:prstGeom prst="rect">
            <a:avLst/>
          </a:prstGeom>
          <a:noFill/>
          <a:ln/>
        </p:spPr>
        <p:txBody>
          <a:bodyPr wrap="square" rtlCol="0" anchor="ctr"/>
          <a:lstStyle/>
          <a:p>
            <a:pPr algn="ctr" indent="0" marL="0">
              <a:buNone/>
            </a:pPr>
            <a:r>
              <a:rPr lang="en-US" sz="1100" i="1" dirty="0">
                <a:solidFill>
                  <a:srgbClr val="6B7280"/>
                </a:solidFill>
              </a:rPr>
              <a:t>Phase 1: Intentionally limited scope for safety &amp; transparency</a:t>
            </a:r>
            <a:endParaRPr lang="en-US" sz="1100" dirty="0"/>
          </a:p>
        </p:txBody>
      </p:sp>
      <p:sp>
        <p:nvSpPr>
          <p:cNvPr id="20" name="Shape 18"/>
          <p:cNvSpPr/>
          <p:nvPr/>
        </p:nvSpPr>
        <p:spPr>
          <a:xfrm>
            <a:off x="914400" y="4297680"/>
            <a:ext cx="7315200" cy="1463040"/>
          </a:xfrm>
          <a:prstGeom prst="rect">
            <a:avLst/>
          </a:prstGeom>
          <a:solidFill>
            <a:srgbClr val="EFF6FF"/>
          </a:solidFill>
          <a:ln w="25400">
            <a:solidFill>
              <a:srgbClr val="3B82F6"/>
            </a:solidFill>
            <a:prstDash val="solid"/>
          </a:ln>
        </p:spPr>
      </p:sp>
      <p:sp>
        <p:nvSpPr>
          <p:cNvPr id="21" name="Shape 19"/>
          <p:cNvSpPr/>
          <p:nvPr/>
        </p:nvSpPr>
        <p:spPr>
          <a:xfrm>
            <a:off x="1371600" y="4663440"/>
            <a:ext cx="731520" cy="731520"/>
          </a:xfrm>
          <a:prstGeom prst="ellipse">
            <a:avLst/>
          </a:prstGeom>
          <a:solidFill>
            <a:srgbClr val="F59E0B"/>
          </a:solidFill>
          <a:ln w="12700">
            <a:solidFill>
              <a:srgbClr val="333333"/>
            </a:solidFill>
            <a:prstDash val="solid"/>
          </a:ln>
        </p:spPr>
      </p:sp>
      <p:sp>
        <p:nvSpPr>
          <p:cNvPr id="22" name="Text 20"/>
          <p:cNvSpPr/>
          <p:nvPr/>
        </p:nvSpPr>
        <p:spPr>
          <a:xfrm>
            <a:off x="1371600" y="4663440"/>
            <a:ext cx="731520" cy="731520"/>
          </a:xfrm>
          <a:prstGeom prst="rect">
            <a:avLst/>
          </a:prstGeom>
          <a:noFill/>
          <a:ln/>
        </p:spPr>
        <p:txBody>
          <a:bodyPr wrap="square" rtlCol="0" anchor="ctr"/>
          <a:lstStyle/>
          <a:p>
            <a:pPr algn="ctr" indent="0" marL="0">
              <a:buNone/>
            </a:pPr>
            <a:r>
              <a:rPr lang="en-US" sz="1600" b="1" dirty="0">
                <a:solidFill>
                  <a:srgbClr val="FFFFFF"/>
                </a:solidFill>
              </a:rPr>
              <a:t>AI</a:t>
            </a:r>
            <a:endParaRPr lang="en-US" sz="1600" dirty="0"/>
          </a:p>
        </p:txBody>
      </p:sp>
      <p:sp>
        <p:nvSpPr>
          <p:cNvPr id="23" name="Text 21"/>
          <p:cNvSpPr/>
          <p:nvPr/>
        </p:nvSpPr>
        <p:spPr>
          <a:xfrm>
            <a:off x="2286000" y="4617720"/>
            <a:ext cx="2286000" cy="822960"/>
          </a:xfrm>
          <a:prstGeom prst="rect">
            <a:avLst/>
          </a:prstGeom>
          <a:noFill/>
          <a:ln/>
        </p:spPr>
        <p:txBody>
          <a:bodyPr wrap="square" rtlCol="0" anchor="ctr"/>
          <a:lstStyle/>
          <a:p>
            <a:pPr indent="0" marL="0">
              <a:buNone/>
            </a:pPr>
            <a:r>
              <a:rPr lang="en-US" sz="1100" dirty="0">
                <a:solidFill>
                  <a:srgbClr val="1F2937"/>
                </a:solidFill>
              </a:rPr>
              <a:t>Suggests strategy based on:</a:t>
            </a:r>
            <a:endParaRPr lang="en-US" sz="1100" dirty="0"/>
          </a:p>
          <a:p>
            <a:pPr indent="0" marL="0">
              <a:buNone/>
            </a:pPr>
            <a:r>
              <a:rPr lang="en-US" sz="1100" dirty="0">
                <a:solidFill>
                  <a:srgbClr val="1F2937"/>
                </a:solidFill>
              </a:rPr>
              <a:t>• Order size &amp; urgency</a:t>
            </a:r>
            <a:endParaRPr lang="en-US" sz="1100" dirty="0"/>
          </a:p>
          <a:p>
            <a:pPr indent="0" marL="0">
              <a:buNone/>
            </a:pPr>
            <a:r>
              <a:rPr lang="en-US" sz="1100" dirty="0">
                <a:solidFill>
                  <a:srgbClr val="1F2937"/>
                </a:solidFill>
              </a:rPr>
              <a:t>• Market liquidity</a:t>
            </a:r>
            <a:endParaRPr lang="en-US" sz="1100" dirty="0"/>
          </a:p>
          <a:p>
            <a:pPr indent="0" marL="0">
              <a:buNone/>
            </a:pPr>
            <a:r>
              <a:rPr lang="en-US" sz="1100" dirty="0">
                <a:solidFill>
                  <a:srgbClr val="1F2937"/>
                </a:solidFill>
              </a:rPr>
              <a:t>• Your past preferences</a:t>
            </a:r>
            <a:endParaRPr lang="en-US" sz="1100" dirty="0"/>
          </a:p>
        </p:txBody>
      </p:sp>
      <p:sp>
        <p:nvSpPr>
          <p:cNvPr id="24" name="Shape 22"/>
          <p:cNvSpPr/>
          <p:nvPr/>
        </p:nvSpPr>
        <p:spPr>
          <a:xfrm>
            <a:off x="4754880" y="4846320"/>
            <a:ext cx="548640" cy="365760"/>
          </a:xfrm>
          <a:prstGeom prst="rightArrow">
            <a:avLst/>
          </a:prstGeom>
          <a:solidFill>
            <a:srgbClr val="6B7280"/>
          </a:solidFill>
          <a:ln/>
        </p:spPr>
      </p:sp>
      <p:sp>
        <p:nvSpPr>
          <p:cNvPr id="25" name="Shape 23"/>
          <p:cNvSpPr/>
          <p:nvPr/>
        </p:nvSpPr>
        <p:spPr>
          <a:xfrm>
            <a:off x="5577840" y="4663440"/>
            <a:ext cx="731520" cy="731520"/>
          </a:xfrm>
          <a:prstGeom prst="ellipse">
            <a:avLst/>
          </a:prstGeom>
          <a:solidFill>
            <a:srgbClr val="10B981"/>
          </a:solidFill>
          <a:ln w="12700">
            <a:solidFill>
              <a:srgbClr val="333333"/>
            </a:solidFill>
            <a:prstDash val="solid"/>
          </a:ln>
        </p:spPr>
      </p:sp>
      <p:sp>
        <p:nvSpPr>
          <p:cNvPr id="26" name="Text 24"/>
          <p:cNvSpPr/>
          <p:nvPr/>
        </p:nvSpPr>
        <p:spPr>
          <a:xfrm>
            <a:off x="5577840" y="4663440"/>
            <a:ext cx="731520" cy="731520"/>
          </a:xfrm>
          <a:prstGeom prst="rect">
            <a:avLst/>
          </a:prstGeom>
          <a:noFill/>
          <a:ln/>
        </p:spPr>
        <p:txBody>
          <a:bodyPr wrap="square" rtlCol="0" anchor="ctr"/>
          <a:lstStyle/>
          <a:p>
            <a:pPr algn="ctr" indent="0" marL="0">
              <a:buNone/>
            </a:pPr>
            <a:r>
              <a:rPr lang="en-US" sz="1400" b="1" dirty="0">
                <a:solidFill>
                  <a:srgbClr val="FFFFFF"/>
                </a:solidFill>
              </a:rPr>
              <a:t>YOU</a:t>
            </a:r>
            <a:endParaRPr lang="en-US" sz="1400" dirty="0"/>
          </a:p>
        </p:txBody>
      </p:sp>
      <p:sp>
        <p:nvSpPr>
          <p:cNvPr id="27" name="Text 25"/>
          <p:cNvSpPr/>
          <p:nvPr/>
        </p:nvSpPr>
        <p:spPr>
          <a:xfrm>
            <a:off x="6492240" y="4663440"/>
            <a:ext cx="1371600" cy="731520"/>
          </a:xfrm>
          <a:prstGeom prst="rect">
            <a:avLst/>
          </a:prstGeom>
          <a:noFill/>
          <a:ln/>
        </p:spPr>
        <p:txBody>
          <a:bodyPr wrap="square" rtlCol="0" anchor="ctr"/>
          <a:lstStyle/>
          <a:p>
            <a:pPr indent="0" marL="0">
              <a:buNone/>
            </a:pPr>
            <a:r>
              <a:rPr lang="en-US" sz="1100" b="1" dirty="0">
                <a:solidFill>
                  <a:srgbClr val="1F2937"/>
                </a:solidFill>
              </a:rPr>
              <a:t>✓ Accept</a:t>
            </a:r>
            <a:endParaRPr lang="en-US" sz="1100" dirty="0"/>
          </a:p>
          <a:p>
            <a:pPr indent="0" marL="0">
              <a:buNone/>
            </a:pPr>
            <a:r>
              <a:rPr lang="en-US" sz="1100" b="1" dirty="0">
                <a:solidFill>
                  <a:srgbClr val="1F2937"/>
                </a:solidFill>
              </a:rPr>
              <a:t>✓ Modify</a:t>
            </a:r>
            <a:endParaRPr lang="en-US" sz="1100" dirty="0"/>
          </a:p>
          <a:p>
            <a:pPr indent="0" marL="0">
              <a:buNone/>
            </a:pPr>
            <a:r>
              <a:rPr lang="en-US" sz="1100" b="1" dirty="0">
                <a:solidFill>
                  <a:srgbClr val="1F2937"/>
                </a:solidFill>
              </a:rPr>
              <a:t>✓ Override</a:t>
            </a:r>
            <a:endParaRPr lang="en-US" sz="1100" dirty="0"/>
          </a:p>
        </p:txBody>
      </p:sp>
      <p:sp>
        <p:nvSpPr>
          <p:cNvPr id="28" name="Shape 26"/>
          <p:cNvSpPr/>
          <p:nvPr/>
        </p:nvSpPr>
        <p:spPr>
          <a:xfrm>
            <a:off x="457200" y="6126480"/>
            <a:ext cx="8229600" cy="457200"/>
          </a:xfrm>
          <a:prstGeom prst="rect">
            <a:avLst/>
          </a:prstGeom>
          <a:solidFill>
            <a:srgbClr val="F59E0B">
              <a:alpha val="85000"/>
            </a:srgbClr>
          </a:solidFill>
          <a:ln w="12700">
            <a:solidFill>
              <a:srgbClr val="333333"/>
            </a:solidFill>
            <a:prstDash val="solid"/>
          </a:ln>
        </p:spPr>
      </p:sp>
      <p:sp>
        <p:nvSpPr>
          <p:cNvPr id="29" name="Text 27"/>
          <p:cNvSpPr/>
          <p:nvPr/>
        </p:nvSpPr>
        <p:spPr>
          <a:xfrm>
            <a:off x="457200" y="6172200"/>
            <a:ext cx="8229600" cy="365760"/>
          </a:xfrm>
          <a:prstGeom prst="rect">
            <a:avLst/>
          </a:prstGeom>
          <a:noFill/>
          <a:ln/>
        </p:spPr>
        <p:txBody>
          <a:bodyPr wrap="square" rtlCol="0" anchor="ctr"/>
          <a:lstStyle/>
          <a:p>
            <a:pPr algn="ctr" indent="0" marL="0">
              <a:buNone/>
            </a:pPr>
            <a:r>
              <a:rPr lang="en-US" sz="1300" b="1" i="1" dirty="0">
                <a:solidFill>
                  <a:srgbClr val="F59E0B"/>
                </a:solidFill>
              </a:rPr>
              <a:t>💡 User corrections are treated as learning signals, not errors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1E3A8A"/>
                </a:solidFill>
              </a:rPr>
              <a:t>Continuous Improvement via Offline RL</a:t>
            </a:r>
            <a:endParaRPr lang="en-US" sz="4000" dirty="0"/>
          </a:p>
        </p:txBody>
      </p:sp>
      <p:sp>
        <p:nvSpPr>
          <p:cNvPr id="3" name="Text 1"/>
          <p:cNvSpPr/>
          <p:nvPr/>
        </p:nvSpPr>
        <p:spPr>
          <a:xfrm>
            <a:off x="457200" y="960120"/>
            <a:ext cx="8229600" cy="365760"/>
          </a:xfrm>
          <a:prstGeom prst="rect">
            <a:avLst/>
          </a:prstGeom>
          <a:noFill/>
          <a:ln/>
        </p:spPr>
        <p:txBody>
          <a:bodyPr wrap="square" rtlCol="0" anchor="ctr"/>
          <a:lstStyle/>
          <a:p>
            <a:pPr indent="0" marL="0">
              <a:buNone/>
            </a:pPr>
            <a:r>
              <a:rPr lang="en-US" sz="1800" i="1" dirty="0">
                <a:solidFill>
                  <a:srgbClr val="6B7280"/>
                </a:solidFill>
              </a:rPr>
              <a:t>Learning is Offline • Inference is Real-Time • Humans Stay in Control</a:t>
            </a:r>
            <a:endParaRPr lang="en-US" sz="1800" dirty="0"/>
          </a:p>
        </p:txBody>
      </p:sp>
      <p:sp>
        <p:nvSpPr>
          <p:cNvPr id="4" name="Shape 2"/>
          <p:cNvSpPr/>
          <p:nvPr/>
        </p:nvSpPr>
        <p:spPr>
          <a:xfrm>
            <a:off x="731520" y="1645920"/>
            <a:ext cx="3657600" cy="3474720"/>
          </a:xfrm>
          <a:prstGeom prst="rect">
            <a:avLst/>
          </a:prstGeom>
          <a:solidFill>
            <a:srgbClr val="DBEAFE"/>
          </a:solidFill>
          <a:ln w="38100">
            <a:solidFill>
              <a:srgbClr val="3B82F6"/>
            </a:solidFill>
            <a:prstDash val="solid"/>
          </a:ln>
        </p:spPr>
      </p:sp>
      <p:sp>
        <p:nvSpPr>
          <p:cNvPr id="5" name="Shape 3"/>
          <p:cNvSpPr/>
          <p:nvPr/>
        </p:nvSpPr>
        <p:spPr>
          <a:xfrm>
            <a:off x="731520" y="1645920"/>
            <a:ext cx="3657600" cy="640080"/>
          </a:xfrm>
          <a:prstGeom prst="rect">
            <a:avLst/>
          </a:prstGeom>
          <a:solidFill>
            <a:srgbClr val="3B82F6"/>
          </a:solidFill>
          <a:ln w="12700">
            <a:solidFill>
              <a:srgbClr val="333333"/>
            </a:solidFill>
            <a:prstDash val="solid"/>
          </a:ln>
        </p:spPr>
      </p:sp>
      <p:sp>
        <p:nvSpPr>
          <p:cNvPr id="6" name="Text 4"/>
          <p:cNvSpPr/>
          <p:nvPr/>
        </p:nvSpPr>
        <p:spPr>
          <a:xfrm>
            <a:off x="731520" y="1737360"/>
            <a:ext cx="3657600" cy="457200"/>
          </a:xfrm>
          <a:prstGeom prst="rect">
            <a:avLst/>
          </a:prstGeom>
          <a:noFill/>
          <a:ln/>
        </p:spPr>
        <p:txBody>
          <a:bodyPr wrap="square" rtlCol="0" anchor="ctr"/>
          <a:lstStyle/>
          <a:p>
            <a:pPr algn="ctr" indent="0" marL="0">
              <a:buNone/>
            </a:pPr>
            <a:r>
              <a:rPr lang="en-US" sz="2000" b="1" dirty="0">
                <a:solidFill>
                  <a:srgbClr val="FFFFFF"/>
                </a:solidFill>
              </a:rPr>
              <a:t>PRODUCTION (Real-Time)</a:t>
            </a:r>
            <a:endParaRPr lang="en-US" sz="2000" dirty="0"/>
          </a:p>
        </p:txBody>
      </p:sp>
      <p:sp>
        <p:nvSpPr>
          <p:cNvPr id="7" name="Text 5"/>
          <p:cNvSpPr/>
          <p:nvPr/>
        </p:nvSpPr>
        <p:spPr>
          <a:xfrm>
            <a:off x="1005840" y="256032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8" name="Text 6"/>
          <p:cNvSpPr/>
          <p:nvPr/>
        </p:nvSpPr>
        <p:spPr>
          <a:xfrm>
            <a:off x="1554480" y="2606040"/>
            <a:ext cx="2560320" cy="320040"/>
          </a:xfrm>
          <a:prstGeom prst="rect">
            <a:avLst/>
          </a:prstGeom>
          <a:noFill/>
          <a:ln/>
        </p:spPr>
        <p:txBody>
          <a:bodyPr wrap="square" rtlCol="0" anchor="ctr"/>
          <a:lstStyle/>
          <a:p>
            <a:pPr indent="0" marL="0">
              <a:buNone/>
            </a:pPr>
            <a:r>
              <a:rPr lang="en-US" sz="1400" b="1" dirty="0">
                <a:solidFill>
                  <a:srgbClr val="1F2937"/>
                </a:solidFill>
              </a:rPr>
              <a:t>Real-time inference</a:t>
            </a:r>
            <a:endParaRPr lang="en-US" sz="1400" dirty="0"/>
          </a:p>
        </p:txBody>
      </p:sp>
      <p:sp>
        <p:nvSpPr>
          <p:cNvPr id="9" name="Text 7"/>
          <p:cNvSpPr/>
          <p:nvPr/>
        </p:nvSpPr>
        <p:spPr>
          <a:xfrm>
            <a:off x="1005840" y="306324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0" name="Text 8"/>
          <p:cNvSpPr/>
          <p:nvPr/>
        </p:nvSpPr>
        <p:spPr>
          <a:xfrm>
            <a:off x="1554480" y="3108960"/>
            <a:ext cx="2560320" cy="320040"/>
          </a:xfrm>
          <a:prstGeom prst="rect">
            <a:avLst/>
          </a:prstGeom>
          <a:noFill/>
          <a:ln/>
        </p:spPr>
        <p:txBody>
          <a:bodyPr wrap="square" rtlCol="0" anchor="ctr"/>
          <a:lstStyle/>
          <a:p>
            <a:pPr indent="0" marL="0">
              <a:buNone/>
            </a:pPr>
            <a:r>
              <a:rPr lang="en-US" sz="1400" b="1" dirty="0">
                <a:solidFill>
                  <a:srgbClr val="1F2937"/>
                </a:solidFill>
              </a:rPr>
              <a:t>NO learning in production</a:t>
            </a:r>
            <a:endParaRPr lang="en-US" sz="1400" dirty="0"/>
          </a:p>
        </p:txBody>
      </p:sp>
      <p:sp>
        <p:nvSpPr>
          <p:cNvPr id="11" name="Text 9"/>
          <p:cNvSpPr/>
          <p:nvPr/>
        </p:nvSpPr>
        <p:spPr>
          <a:xfrm>
            <a:off x="1005840" y="356616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2" name="Text 10"/>
          <p:cNvSpPr/>
          <p:nvPr/>
        </p:nvSpPr>
        <p:spPr>
          <a:xfrm>
            <a:off x="1554480" y="3611880"/>
            <a:ext cx="2560320" cy="320040"/>
          </a:xfrm>
          <a:prstGeom prst="rect">
            <a:avLst/>
          </a:prstGeom>
          <a:noFill/>
          <a:ln/>
        </p:spPr>
        <p:txBody>
          <a:bodyPr wrap="square" rtlCol="0" anchor="ctr"/>
          <a:lstStyle/>
          <a:p>
            <a:pPr indent="0" marL="0">
              <a:buNone/>
            </a:pPr>
            <a:r>
              <a:rPr lang="en-US" sz="1400" b="1" dirty="0">
                <a:solidFill>
                  <a:srgbClr val="1F2937"/>
                </a:solidFill>
              </a:rPr>
              <a:t>Fully deterministic</a:t>
            </a:r>
            <a:endParaRPr lang="en-US" sz="1400" dirty="0"/>
          </a:p>
        </p:txBody>
      </p:sp>
      <p:sp>
        <p:nvSpPr>
          <p:cNvPr id="13" name="Text 11"/>
          <p:cNvSpPr/>
          <p:nvPr/>
        </p:nvSpPr>
        <p:spPr>
          <a:xfrm>
            <a:off x="1005840" y="406908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4" name="Text 12"/>
          <p:cNvSpPr/>
          <p:nvPr/>
        </p:nvSpPr>
        <p:spPr>
          <a:xfrm>
            <a:off x="1554480" y="4114800"/>
            <a:ext cx="2560320" cy="320040"/>
          </a:xfrm>
          <a:prstGeom prst="rect">
            <a:avLst/>
          </a:prstGeom>
          <a:noFill/>
          <a:ln/>
        </p:spPr>
        <p:txBody>
          <a:bodyPr wrap="square" rtlCol="0" anchor="ctr"/>
          <a:lstStyle/>
          <a:p>
            <a:pPr indent="0" marL="0">
              <a:buNone/>
            </a:pPr>
            <a:r>
              <a:rPr lang="en-US" sz="1400" b="1" dirty="0">
                <a:solidFill>
                  <a:srgbClr val="1F2937"/>
                </a:solidFill>
              </a:rPr>
              <a:t>User reviews every order</a:t>
            </a:r>
            <a:endParaRPr lang="en-US" sz="1400" dirty="0"/>
          </a:p>
        </p:txBody>
      </p:sp>
      <p:sp>
        <p:nvSpPr>
          <p:cNvPr id="15" name="Text 13"/>
          <p:cNvSpPr/>
          <p:nvPr/>
        </p:nvSpPr>
        <p:spPr>
          <a:xfrm>
            <a:off x="1005840" y="457200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6" name="Text 14"/>
          <p:cNvSpPr/>
          <p:nvPr/>
        </p:nvSpPr>
        <p:spPr>
          <a:xfrm>
            <a:off x="1554480" y="4617720"/>
            <a:ext cx="2560320" cy="320040"/>
          </a:xfrm>
          <a:prstGeom prst="rect">
            <a:avLst/>
          </a:prstGeom>
          <a:noFill/>
          <a:ln/>
        </p:spPr>
        <p:txBody>
          <a:bodyPr wrap="square" rtlCol="0" anchor="ctr"/>
          <a:lstStyle/>
          <a:p>
            <a:pPr indent="0" marL="0">
              <a:buNone/>
            </a:pPr>
            <a:r>
              <a:rPr lang="en-US" sz="1400" b="1" dirty="0">
                <a:solidFill>
                  <a:srgbClr val="1F2937"/>
                </a:solidFill>
              </a:rPr>
              <a:t>Always safe &amp; predictable</a:t>
            </a:r>
            <a:endParaRPr lang="en-US" sz="1400" dirty="0"/>
          </a:p>
        </p:txBody>
      </p:sp>
      <p:sp>
        <p:nvSpPr>
          <p:cNvPr id="17" name="Shape 15"/>
          <p:cNvSpPr/>
          <p:nvPr/>
        </p:nvSpPr>
        <p:spPr>
          <a:xfrm>
            <a:off x="4846320" y="1645920"/>
            <a:ext cx="3657600" cy="3474720"/>
          </a:xfrm>
          <a:prstGeom prst="rect">
            <a:avLst/>
          </a:prstGeom>
          <a:solidFill>
            <a:srgbClr val="D1FAE5"/>
          </a:solidFill>
          <a:ln w="38100">
            <a:solidFill>
              <a:srgbClr val="10B981"/>
            </a:solidFill>
            <a:prstDash val="solid"/>
          </a:ln>
        </p:spPr>
      </p:sp>
      <p:sp>
        <p:nvSpPr>
          <p:cNvPr id="18" name="Shape 16"/>
          <p:cNvSpPr/>
          <p:nvPr/>
        </p:nvSpPr>
        <p:spPr>
          <a:xfrm>
            <a:off x="4846320" y="1645920"/>
            <a:ext cx="3657600" cy="640080"/>
          </a:xfrm>
          <a:prstGeom prst="rect">
            <a:avLst/>
          </a:prstGeom>
          <a:solidFill>
            <a:srgbClr val="10B981"/>
          </a:solidFill>
          <a:ln w="12700">
            <a:solidFill>
              <a:srgbClr val="333333"/>
            </a:solidFill>
            <a:prstDash val="solid"/>
          </a:ln>
        </p:spPr>
      </p:sp>
      <p:sp>
        <p:nvSpPr>
          <p:cNvPr id="19" name="Text 17"/>
          <p:cNvSpPr/>
          <p:nvPr/>
        </p:nvSpPr>
        <p:spPr>
          <a:xfrm>
            <a:off x="4846320" y="1737360"/>
            <a:ext cx="3657600" cy="457200"/>
          </a:xfrm>
          <a:prstGeom prst="rect">
            <a:avLst/>
          </a:prstGeom>
          <a:noFill/>
          <a:ln/>
        </p:spPr>
        <p:txBody>
          <a:bodyPr wrap="square" rtlCol="0" anchor="ctr"/>
          <a:lstStyle/>
          <a:p>
            <a:pPr algn="ctr" indent="0" marL="0">
              <a:buNone/>
            </a:pPr>
            <a:r>
              <a:rPr lang="en-US" sz="2000" b="1" dirty="0">
                <a:solidFill>
                  <a:srgbClr val="FFFFFF"/>
                </a:solidFill>
              </a:rPr>
              <a:t>TRAINING (Offline)</a:t>
            </a:r>
            <a:endParaRPr lang="en-US" sz="2000" dirty="0"/>
          </a:p>
        </p:txBody>
      </p:sp>
      <p:sp>
        <p:nvSpPr>
          <p:cNvPr id="20" name="Text 18"/>
          <p:cNvSpPr/>
          <p:nvPr/>
        </p:nvSpPr>
        <p:spPr>
          <a:xfrm>
            <a:off x="5120640" y="256032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1" name="Text 19"/>
          <p:cNvSpPr/>
          <p:nvPr/>
        </p:nvSpPr>
        <p:spPr>
          <a:xfrm>
            <a:off x="5669280" y="2606040"/>
            <a:ext cx="2560320" cy="320040"/>
          </a:xfrm>
          <a:prstGeom prst="rect">
            <a:avLst/>
          </a:prstGeom>
          <a:noFill/>
          <a:ln/>
        </p:spPr>
        <p:txBody>
          <a:bodyPr wrap="square" rtlCol="0" anchor="ctr"/>
          <a:lstStyle/>
          <a:p>
            <a:pPr indent="0" marL="0">
              <a:buNone/>
            </a:pPr>
            <a:r>
              <a:rPr lang="en-US" sz="1400" b="1" dirty="0">
                <a:solidFill>
                  <a:srgbClr val="1F2937"/>
                </a:solidFill>
              </a:rPr>
              <a:t>User corrections captured</a:t>
            </a:r>
            <a:endParaRPr lang="en-US" sz="1400" dirty="0"/>
          </a:p>
        </p:txBody>
      </p:sp>
      <p:sp>
        <p:nvSpPr>
          <p:cNvPr id="22" name="Text 20"/>
          <p:cNvSpPr/>
          <p:nvPr/>
        </p:nvSpPr>
        <p:spPr>
          <a:xfrm>
            <a:off x="5120640" y="306324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3" name="Text 21"/>
          <p:cNvSpPr/>
          <p:nvPr/>
        </p:nvSpPr>
        <p:spPr>
          <a:xfrm>
            <a:off x="5669280" y="3108960"/>
            <a:ext cx="2560320" cy="320040"/>
          </a:xfrm>
          <a:prstGeom prst="rect">
            <a:avLst/>
          </a:prstGeom>
          <a:noFill/>
          <a:ln/>
        </p:spPr>
        <p:txBody>
          <a:bodyPr wrap="square" rtlCol="0" anchor="ctr"/>
          <a:lstStyle/>
          <a:p>
            <a:pPr indent="0" marL="0">
              <a:buNone/>
            </a:pPr>
            <a:r>
              <a:rPr lang="en-US" sz="1400" b="1" dirty="0">
                <a:solidFill>
                  <a:srgbClr val="1F2937"/>
                </a:solidFill>
              </a:rPr>
              <a:t>End-of-day batch processing</a:t>
            </a:r>
            <a:endParaRPr lang="en-US" sz="1400" dirty="0"/>
          </a:p>
        </p:txBody>
      </p:sp>
      <p:sp>
        <p:nvSpPr>
          <p:cNvPr id="24" name="Text 22"/>
          <p:cNvSpPr/>
          <p:nvPr/>
        </p:nvSpPr>
        <p:spPr>
          <a:xfrm>
            <a:off x="5120640" y="356616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5" name="Text 23"/>
          <p:cNvSpPr/>
          <p:nvPr/>
        </p:nvSpPr>
        <p:spPr>
          <a:xfrm>
            <a:off x="5669280" y="3611880"/>
            <a:ext cx="2560320" cy="320040"/>
          </a:xfrm>
          <a:prstGeom prst="rect">
            <a:avLst/>
          </a:prstGeom>
          <a:noFill/>
          <a:ln/>
        </p:spPr>
        <p:txBody>
          <a:bodyPr wrap="square" rtlCol="0" anchor="ctr"/>
          <a:lstStyle/>
          <a:p>
            <a:pPr indent="0" marL="0">
              <a:buNone/>
            </a:pPr>
            <a:r>
              <a:rPr lang="en-US" sz="1400" b="1" dirty="0">
                <a:solidFill>
                  <a:srgbClr val="1F2937"/>
                </a:solidFill>
              </a:rPr>
              <a:t>APO reinforcement learning</a:t>
            </a:r>
            <a:endParaRPr lang="en-US" sz="1400" dirty="0"/>
          </a:p>
        </p:txBody>
      </p:sp>
      <p:sp>
        <p:nvSpPr>
          <p:cNvPr id="26" name="Text 24"/>
          <p:cNvSpPr/>
          <p:nvPr/>
        </p:nvSpPr>
        <p:spPr>
          <a:xfrm>
            <a:off x="5120640" y="406908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7" name="Text 25"/>
          <p:cNvSpPr/>
          <p:nvPr/>
        </p:nvSpPr>
        <p:spPr>
          <a:xfrm>
            <a:off x="5669280" y="4114800"/>
            <a:ext cx="2560320" cy="320040"/>
          </a:xfrm>
          <a:prstGeom prst="rect">
            <a:avLst/>
          </a:prstGeom>
          <a:noFill/>
          <a:ln/>
        </p:spPr>
        <p:txBody>
          <a:bodyPr wrap="square" rtlCol="0" anchor="ctr"/>
          <a:lstStyle/>
          <a:p>
            <a:pPr indent="0" marL="0">
              <a:buNone/>
            </a:pPr>
            <a:r>
              <a:rPr lang="en-US" sz="1400" b="1" dirty="0">
                <a:solidFill>
                  <a:srgbClr val="1F2937"/>
                </a:solidFill>
              </a:rPr>
              <a:t>Human approval required</a:t>
            </a:r>
            <a:endParaRPr lang="en-US" sz="1400" dirty="0"/>
          </a:p>
        </p:txBody>
      </p:sp>
      <p:sp>
        <p:nvSpPr>
          <p:cNvPr id="28" name="Text 26"/>
          <p:cNvSpPr/>
          <p:nvPr/>
        </p:nvSpPr>
        <p:spPr>
          <a:xfrm>
            <a:off x="5120640" y="457200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9" name="Text 27"/>
          <p:cNvSpPr/>
          <p:nvPr/>
        </p:nvSpPr>
        <p:spPr>
          <a:xfrm>
            <a:off x="5669280" y="4617720"/>
            <a:ext cx="2560320" cy="320040"/>
          </a:xfrm>
          <a:prstGeom prst="rect">
            <a:avLst/>
          </a:prstGeom>
          <a:noFill/>
          <a:ln/>
        </p:spPr>
        <p:txBody>
          <a:bodyPr wrap="square" rtlCol="0" anchor="ctr"/>
          <a:lstStyle/>
          <a:p>
            <a:pPr indent="0" marL="0">
              <a:buNone/>
            </a:pPr>
            <a:r>
              <a:rPr lang="en-US" sz="1400" b="1" dirty="0">
                <a:solidFill>
                  <a:srgbClr val="1F2937"/>
                </a:solidFill>
              </a:rPr>
              <a:t>Rollback capability</a:t>
            </a:r>
            <a:endParaRPr lang="en-US" sz="1400" dirty="0"/>
          </a:p>
        </p:txBody>
      </p:sp>
      <p:sp>
        <p:nvSpPr>
          <p:cNvPr id="30" name="Text 28"/>
          <p:cNvSpPr/>
          <p:nvPr/>
        </p:nvSpPr>
        <p:spPr>
          <a:xfrm>
            <a:off x="731520" y="5486400"/>
            <a:ext cx="7680960" cy="274320"/>
          </a:xfrm>
          <a:prstGeom prst="rect">
            <a:avLst/>
          </a:prstGeom>
          <a:noFill/>
          <a:ln/>
        </p:spPr>
        <p:txBody>
          <a:bodyPr wrap="square" rtlCol="0" anchor="ctr"/>
          <a:lstStyle/>
          <a:p>
            <a:pPr algn="ctr" indent="0" marL="0">
              <a:buNone/>
            </a:pPr>
            <a:r>
              <a:rPr lang="en-US" sz="1200" b="1" dirty="0">
                <a:solidFill>
                  <a:srgbClr val="6B7280"/>
                </a:solidFill>
              </a:rPr>
              <a:t>TIMELINE</a:t>
            </a:r>
            <a:endParaRPr lang="en-US" sz="1200" dirty="0"/>
          </a:p>
        </p:txBody>
      </p:sp>
      <p:sp>
        <p:nvSpPr>
          <p:cNvPr id="31" name="Shape 29"/>
          <p:cNvSpPr/>
          <p:nvPr/>
        </p:nvSpPr>
        <p:spPr>
          <a:xfrm>
            <a:off x="914400" y="5852160"/>
            <a:ext cx="1371600" cy="640080"/>
          </a:xfrm>
          <a:prstGeom prst="rect">
            <a:avLst/>
          </a:prstGeom>
          <a:solidFill>
            <a:srgbClr val="3B82F6">
              <a:alpha val="80000"/>
            </a:srgbClr>
          </a:solidFill>
          <a:ln w="25400">
            <a:solidFill>
              <a:srgbClr val="3B82F6"/>
            </a:solidFill>
            <a:prstDash val="solid"/>
          </a:ln>
        </p:spPr>
      </p:sp>
      <p:sp>
        <p:nvSpPr>
          <p:cNvPr id="32" name="Text 30"/>
          <p:cNvSpPr/>
          <p:nvPr/>
        </p:nvSpPr>
        <p:spPr>
          <a:xfrm>
            <a:off x="914400" y="5943600"/>
            <a:ext cx="1371600" cy="228600"/>
          </a:xfrm>
          <a:prstGeom prst="rect">
            <a:avLst/>
          </a:prstGeom>
          <a:noFill/>
          <a:ln/>
        </p:spPr>
        <p:txBody>
          <a:bodyPr wrap="square" rtlCol="0" anchor="ctr"/>
          <a:lstStyle/>
          <a:p>
            <a:pPr algn="ctr" indent="0" marL="0">
              <a:buNone/>
            </a:pPr>
            <a:r>
              <a:rPr lang="en-US" sz="1100" b="1" dirty="0">
                <a:solidFill>
                  <a:srgbClr val="3B82F6"/>
                </a:solidFill>
              </a:rPr>
              <a:t>Inference</a:t>
            </a:r>
            <a:endParaRPr lang="en-US" sz="1100" dirty="0"/>
          </a:p>
        </p:txBody>
      </p:sp>
      <p:sp>
        <p:nvSpPr>
          <p:cNvPr id="33" name="Text 31"/>
          <p:cNvSpPr/>
          <p:nvPr/>
        </p:nvSpPr>
        <p:spPr>
          <a:xfrm>
            <a:off x="914400" y="6172200"/>
            <a:ext cx="1371600" cy="228600"/>
          </a:xfrm>
          <a:prstGeom prst="rect">
            <a:avLst/>
          </a:prstGeom>
          <a:noFill/>
          <a:ln/>
        </p:spPr>
        <p:txBody>
          <a:bodyPr wrap="square" rtlCol="0" anchor="ctr"/>
          <a:lstStyle/>
          <a:p>
            <a:pPr algn="ctr" indent="0" marL="0">
              <a:buNone/>
            </a:pPr>
            <a:r>
              <a:rPr lang="en-US" sz="900" dirty="0">
                <a:solidFill>
                  <a:srgbClr val="6B7280"/>
                </a:solidFill>
              </a:rPr>
              <a:t>Real-time</a:t>
            </a:r>
            <a:endParaRPr lang="en-US" sz="900" dirty="0"/>
          </a:p>
        </p:txBody>
      </p:sp>
      <p:sp>
        <p:nvSpPr>
          <p:cNvPr id="34" name="Shape 32"/>
          <p:cNvSpPr/>
          <p:nvPr/>
        </p:nvSpPr>
        <p:spPr>
          <a:xfrm>
            <a:off x="2331720" y="6080760"/>
            <a:ext cx="73152" cy="182880"/>
          </a:xfrm>
          <a:prstGeom prst="rightArrow">
            <a:avLst/>
          </a:prstGeom>
          <a:solidFill>
            <a:srgbClr val="6B7280"/>
          </a:solidFill>
          <a:ln/>
        </p:spPr>
      </p:sp>
      <p:sp>
        <p:nvSpPr>
          <p:cNvPr id="35" name="Shape 33"/>
          <p:cNvSpPr/>
          <p:nvPr/>
        </p:nvSpPr>
        <p:spPr>
          <a:xfrm>
            <a:off x="2423160" y="5852160"/>
            <a:ext cx="1371600" cy="640080"/>
          </a:xfrm>
          <a:prstGeom prst="rect">
            <a:avLst/>
          </a:prstGeom>
          <a:solidFill>
            <a:srgbClr val="F59E0B">
              <a:alpha val="80000"/>
            </a:srgbClr>
          </a:solidFill>
          <a:ln w="25400">
            <a:solidFill>
              <a:srgbClr val="F59E0B"/>
            </a:solidFill>
            <a:prstDash val="solid"/>
          </a:ln>
        </p:spPr>
      </p:sp>
      <p:sp>
        <p:nvSpPr>
          <p:cNvPr id="36" name="Text 34"/>
          <p:cNvSpPr/>
          <p:nvPr/>
        </p:nvSpPr>
        <p:spPr>
          <a:xfrm>
            <a:off x="2423160" y="5943600"/>
            <a:ext cx="1371600" cy="228600"/>
          </a:xfrm>
          <a:prstGeom prst="rect">
            <a:avLst/>
          </a:prstGeom>
          <a:noFill/>
          <a:ln/>
        </p:spPr>
        <p:txBody>
          <a:bodyPr wrap="square" rtlCol="0" anchor="ctr"/>
          <a:lstStyle/>
          <a:p>
            <a:pPr algn="ctr" indent="0" marL="0">
              <a:buNone/>
            </a:pPr>
            <a:r>
              <a:rPr lang="en-US" sz="1100" b="1" dirty="0">
                <a:solidFill>
                  <a:srgbClr val="F59E0B"/>
                </a:solidFill>
              </a:rPr>
              <a:t>Collection</a:t>
            </a:r>
            <a:endParaRPr lang="en-US" sz="1100" dirty="0"/>
          </a:p>
        </p:txBody>
      </p:sp>
      <p:sp>
        <p:nvSpPr>
          <p:cNvPr id="37" name="Text 35"/>
          <p:cNvSpPr/>
          <p:nvPr/>
        </p:nvSpPr>
        <p:spPr>
          <a:xfrm>
            <a:off x="2423160" y="6172200"/>
            <a:ext cx="1371600" cy="228600"/>
          </a:xfrm>
          <a:prstGeom prst="rect">
            <a:avLst/>
          </a:prstGeom>
          <a:noFill/>
          <a:ln/>
        </p:spPr>
        <p:txBody>
          <a:bodyPr wrap="square" rtlCol="0" anchor="ctr"/>
          <a:lstStyle/>
          <a:p>
            <a:pPr algn="ctr" indent="0" marL="0">
              <a:buNone/>
            </a:pPr>
            <a:r>
              <a:rPr lang="en-US" sz="900" dirty="0">
                <a:solidFill>
                  <a:srgbClr val="6B7280"/>
                </a:solidFill>
              </a:rPr>
              <a:t>Continuous</a:t>
            </a:r>
            <a:endParaRPr lang="en-US" sz="900" dirty="0"/>
          </a:p>
        </p:txBody>
      </p:sp>
      <p:sp>
        <p:nvSpPr>
          <p:cNvPr id="38" name="Shape 36"/>
          <p:cNvSpPr/>
          <p:nvPr/>
        </p:nvSpPr>
        <p:spPr>
          <a:xfrm>
            <a:off x="3840480" y="6080760"/>
            <a:ext cx="73152" cy="182880"/>
          </a:xfrm>
          <a:prstGeom prst="rightArrow">
            <a:avLst/>
          </a:prstGeom>
          <a:solidFill>
            <a:srgbClr val="6B7280"/>
          </a:solidFill>
          <a:ln/>
        </p:spPr>
      </p:sp>
      <p:sp>
        <p:nvSpPr>
          <p:cNvPr id="39" name="Shape 37"/>
          <p:cNvSpPr/>
          <p:nvPr/>
        </p:nvSpPr>
        <p:spPr>
          <a:xfrm>
            <a:off x="3931920" y="5852160"/>
            <a:ext cx="1371600" cy="640080"/>
          </a:xfrm>
          <a:prstGeom prst="rect">
            <a:avLst/>
          </a:prstGeom>
          <a:solidFill>
            <a:srgbClr val="10B981">
              <a:alpha val="80000"/>
            </a:srgbClr>
          </a:solidFill>
          <a:ln w="25400">
            <a:solidFill>
              <a:srgbClr val="10B981"/>
            </a:solidFill>
            <a:prstDash val="solid"/>
          </a:ln>
        </p:spPr>
      </p:sp>
      <p:sp>
        <p:nvSpPr>
          <p:cNvPr id="40" name="Text 38"/>
          <p:cNvSpPr/>
          <p:nvPr/>
        </p:nvSpPr>
        <p:spPr>
          <a:xfrm>
            <a:off x="3931920" y="5943600"/>
            <a:ext cx="1371600" cy="228600"/>
          </a:xfrm>
          <a:prstGeom prst="rect">
            <a:avLst/>
          </a:prstGeom>
          <a:noFill/>
          <a:ln/>
        </p:spPr>
        <p:txBody>
          <a:bodyPr wrap="square" rtlCol="0" anchor="ctr"/>
          <a:lstStyle/>
          <a:p>
            <a:pPr algn="ctr" indent="0" marL="0">
              <a:buNone/>
            </a:pPr>
            <a:r>
              <a:rPr lang="en-US" sz="1100" b="1" dirty="0">
                <a:solidFill>
                  <a:srgbClr val="10B981"/>
                </a:solidFill>
              </a:rPr>
              <a:t>Training</a:t>
            </a:r>
            <a:endParaRPr lang="en-US" sz="1100" dirty="0"/>
          </a:p>
        </p:txBody>
      </p:sp>
      <p:sp>
        <p:nvSpPr>
          <p:cNvPr id="41" name="Text 39"/>
          <p:cNvSpPr/>
          <p:nvPr/>
        </p:nvSpPr>
        <p:spPr>
          <a:xfrm>
            <a:off x="3931920" y="6172200"/>
            <a:ext cx="1371600" cy="228600"/>
          </a:xfrm>
          <a:prstGeom prst="rect">
            <a:avLst/>
          </a:prstGeom>
          <a:noFill/>
          <a:ln/>
        </p:spPr>
        <p:txBody>
          <a:bodyPr wrap="square" rtlCol="0" anchor="ctr"/>
          <a:lstStyle/>
          <a:p>
            <a:pPr algn="ctr" indent="0" marL="0">
              <a:buNone/>
            </a:pPr>
            <a:r>
              <a:rPr lang="en-US" sz="900" dirty="0">
                <a:solidFill>
                  <a:srgbClr val="6B7280"/>
                </a:solidFill>
              </a:rPr>
              <a:t>Nightly</a:t>
            </a:r>
            <a:endParaRPr lang="en-US" sz="900" dirty="0"/>
          </a:p>
        </p:txBody>
      </p:sp>
      <p:sp>
        <p:nvSpPr>
          <p:cNvPr id="42" name="Shape 40"/>
          <p:cNvSpPr/>
          <p:nvPr/>
        </p:nvSpPr>
        <p:spPr>
          <a:xfrm>
            <a:off x="5349240" y="6080760"/>
            <a:ext cx="73152" cy="182880"/>
          </a:xfrm>
          <a:prstGeom prst="rightArrow">
            <a:avLst/>
          </a:prstGeom>
          <a:solidFill>
            <a:srgbClr val="6B7280"/>
          </a:solidFill>
          <a:ln/>
        </p:spPr>
      </p:sp>
      <p:sp>
        <p:nvSpPr>
          <p:cNvPr id="43" name="Shape 41"/>
          <p:cNvSpPr/>
          <p:nvPr/>
        </p:nvSpPr>
        <p:spPr>
          <a:xfrm>
            <a:off x="5440680" y="5852160"/>
            <a:ext cx="1371600" cy="640080"/>
          </a:xfrm>
          <a:prstGeom prst="rect">
            <a:avLst/>
          </a:prstGeom>
          <a:solidFill>
            <a:srgbClr val="1E3A8A">
              <a:alpha val="80000"/>
            </a:srgbClr>
          </a:solidFill>
          <a:ln w="25400">
            <a:solidFill>
              <a:srgbClr val="1E3A8A"/>
            </a:solidFill>
            <a:prstDash val="solid"/>
          </a:ln>
        </p:spPr>
      </p:sp>
      <p:sp>
        <p:nvSpPr>
          <p:cNvPr id="44" name="Text 42"/>
          <p:cNvSpPr/>
          <p:nvPr/>
        </p:nvSpPr>
        <p:spPr>
          <a:xfrm>
            <a:off x="5440680" y="5943600"/>
            <a:ext cx="1371600" cy="228600"/>
          </a:xfrm>
          <a:prstGeom prst="rect">
            <a:avLst/>
          </a:prstGeom>
          <a:noFill/>
          <a:ln/>
        </p:spPr>
        <p:txBody>
          <a:bodyPr wrap="square" rtlCol="0" anchor="ctr"/>
          <a:lstStyle/>
          <a:p>
            <a:pPr algn="ctr" indent="0" marL="0">
              <a:buNone/>
            </a:pPr>
            <a:r>
              <a:rPr lang="en-US" sz="1100" b="1" dirty="0">
                <a:solidFill>
                  <a:srgbClr val="1E3A8A"/>
                </a:solidFill>
              </a:rPr>
              <a:t>Review</a:t>
            </a:r>
            <a:endParaRPr lang="en-US" sz="1100" dirty="0"/>
          </a:p>
        </p:txBody>
      </p:sp>
      <p:sp>
        <p:nvSpPr>
          <p:cNvPr id="45" name="Text 43"/>
          <p:cNvSpPr/>
          <p:nvPr/>
        </p:nvSpPr>
        <p:spPr>
          <a:xfrm>
            <a:off x="5440680" y="6172200"/>
            <a:ext cx="1371600" cy="228600"/>
          </a:xfrm>
          <a:prstGeom prst="rect">
            <a:avLst/>
          </a:prstGeom>
          <a:noFill/>
          <a:ln/>
        </p:spPr>
        <p:txBody>
          <a:bodyPr wrap="square" rtlCol="0" anchor="ctr"/>
          <a:lstStyle/>
          <a:p>
            <a:pPr algn="ctr" indent="0" marL="0">
              <a:buNone/>
            </a:pPr>
            <a:r>
              <a:rPr lang="en-US" sz="900" dirty="0">
                <a:solidFill>
                  <a:srgbClr val="6B7280"/>
                </a:solidFill>
              </a:rPr>
              <a:t>Weekly</a:t>
            </a:r>
            <a:endParaRPr lang="en-US" sz="900" dirty="0"/>
          </a:p>
        </p:txBody>
      </p:sp>
      <p:sp>
        <p:nvSpPr>
          <p:cNvPr id="46" name="Shape 44"/>
          <p:cNvSpPr/>
          <p:nvPr/>
        </p:nvSpPr>
        <p:spPr>
          <a:xfrm>
            <a:off x="6858000" y="6080760"/>
            <a:ext cx="73152" cy="182880"/>
          </a:xfrm>
          <a:prstGeom prst="rightArrow">
            <a:avLst/>
          </a:prstGeom>
          <a:solidFill>
            <a:srgbClr val="6B7280"/>
          </a:solidFill>
          <a:ln/>
        </p:spPr>
      </p:sp>
      <p:sp>
        <p:nvSpPr>
          <p:cNvPr id="47" name="Shape 45"/>
          <p:cNvSpPr/>
          <p:nvPr/>
        </p:nvSpPr>
        <p:spPr>
          <a:xfrm>
            <a:off x="6949440" y="5852160"/>
            <a:ext cx="1371600" cy="640080"/>
          </a:xfrm>
          <a:prstGeom prst="rect">
            <a:avLst/>
          </a:prstGeom>
          <a:solidFill>
            <a:srgbClr val="10B981">
              <a:alpha val="80000"/>
            </a:srgbClr>
          </a:solidFill>
          <a:ln w="25400">
            <a:solidFill>
              <a:srgbClr val="10B981"/>
            </a:solidFill>
            <a:prstDash val="solid"/>
          </a:ln>
        </p:spPr>
      </p:sp>
      <p:sp>
        <p:nvSpPr>
          <p:cNvPr id="48" name="Text 46"/>
          <p:cNvSpPr/>
          <p:nvPr/>
        </p:nvSpPr>
        <p:spPr>
          <a:xfrm>
            <a:off x="6949440" y="5943600"/>
            <a:ext cx="1371600" cy="228600"/>
          </a:xfrm>
          <a:prstGeom prst="rect">
            <a:avLst/>
          </a:prstGeom>
          <a:noFill/>
          <a:ln/>
        </p:spPr>
        <p:txBody>
          <a:bodyPr wrap="square" rtlCol="0" anchor="ctr"/>
          <a:lstStyle/>
          <a:p>
            <a:pPr algn="ctr" indent="0" marL="0">
              <a:buNone/>
            </a:pPr>
            <a:r>
              <a:rPr lang="en-US" sz="1100" b="1" dirty="0">
                <a:solidFill>
                  <a:srgbClr val="10B981"/>
                </a:solidFill>
              </a:rPr>
              <a:t>Deploy</a:t>
            </a:r>
            <a:endParaRPr lang="en-US" sz="1100" dirty="0"/>
          </a:p>
        </p:txBody>
      </p:sp>
      <p:sp>
        <p:nvSpPr>
          <p:cNvPr id="49" name="Text 47"/>
          <p:cNvSpPr/>
          <p:nvPr/>
        </p:nvSpPr>
        <p:spPr>
          <a:xfrm>
            <a:off x="6949440" y="6172200"/>
            <a:ext cx="1371600" cy="228600"/>
          </a:xfrm>
          <a:prstGeom prst="rect">
            <a:avLst/>
          </a:prstGeom>
          <a:noFill/>
          <a:ln/>
        </p:spPr>
        <p:txBody>
          <a:bodyPr wrap="square" rtlCol="0" anchor="ctr"/>
          <a:lstStyle/>
          <a:p>
            <a:pPr algn="ctr" indent="0" marL="0">
              <a:buNone/>
            </a:pPr>
            <a:r>
              <a:rPr lang="en-US" sz="900" dirty="0">
                <a:solidFill>
                  <a:srgbClr val="6B7280"/>
                </a:solidFill>
              </a:rPr>
              <a:t>After Approval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3800" b="1" dirty="0">
                <a:solidFill>
                  <a:srgbClr val="1E3A8A"/>
                </a:solidFill>
              </a:rPr>
              <a:t>Technical Architecture Overview</a:t>
            </a:r>
            <a:endParaRPr lang="en-US" sz="3800" dirty="0"/>
          </a:p>
        </p:txBody>
      </p:sp>
      <p:sp>
        <p:nvSpPr>
          <p:cNvPr id="3" name="Text 1"/>
          <p:cNvSpPr/>
          <p:nvPr/>
        </p:nvSpPr>
        <p:spPr>
          <a:xfrm>
            <a:off x="457200" y="777240"/>
            <a:ext cx="8229600" cy="274320"/>
          </a:xfrm>
          <a:prstGeom prst="rect">
            <a:avLst/>
          </a:prstGeom>
          <a:noFill/>
          <a:ln/>
        </p:spPr>
        <p:txBody>
          <a:bodyPr wrap="square" rtlCol="0" anchor="ctr"/>
          <a:lstStyle/>
          <a:p>
            <a:pPr indent="0" marL="0">
              <a:buNone/>
            </a:pPr>
            <a:r>
              <a:rPr lang="en-US" sz="1600" i="1" dirty="0">
                <a:solidFill>
                  <a:srgbClr val="6B7280"/>
                </a:solidFill>
              </a:rPr>
              <a:t>Clear Separation: Real-Time Inference vs Offline Learning</a:t>
            </a:r>
            <a:endParaRPr lang="en-US" sz="1600" dirty="0"/>
          </a:p>
        </p:txBody>
      </p:sp>
      <p:sp>
        <p:nvSpPr>
          <p:cNvPr id="4" name="Shape 2"/>
          <p:cNvSpPr/>
          <p:nvPr/>
        </p:nvSpPr>
        <p:spPr>
          <a:xfrm>
            <a:off x="457200" y="1280160"/>
            <a:ext cx="8229600" cy="2011680"/>
          </a:xfrm>
          <a:prstGeom prst="rect">
            <a:avLst/>
          </a:prstGeom>
          <a:solidFill>
            <a:srgbClr val="EFF6FF"/>
          </a:solidFill>
          <a:ln w="12700">
            <a:solidFill>
              <a:srgbClr val="333333"/>
            </a:solidFill>
            <a:prstDash val="solid"/>
          </a:ln>
        </p:spPr>
      </p:sp>
      <p:sp>
        <p:nvSpPr>
          <p:cNvPr id="5" name="Text 3"/>
          <p:cNvSpPr/>
          <p:nvPr/>
        </p:nvSpPr>
        <p:spPr>
          <a:xfrm>
            <a:off x="640080" y="1371600"/>
            <a:ext cx="3657600" cy="274320"/>
          </a:xfrm>
          <a:prstGeom prst="rect">
            <a:avLst/>
          </a:prstGeom>
          <a:noFill/>
          <a:ln/>
        </p:spPr>
        <p:txBody>
          <a:bodyPr wrap="square" rtlCol="0" anchor="ctr"/>
          <a:lstStyle/>
          <a:p>
            <a:pPr indent="0" marL="0">
              <a:buNone/>
            </a:pPr>
            <a:r>
              <a:rPr lang="en-US" sz="1300" b="1" dirty="0">
                <a:solidFill>
                  <a:srgbClr val="3B82F6"/>
                </a:solidFill>
              </a:rPr>
              <a:t>REAL-TIME INFERENCE PATH (No Learning)</a:t>
            </a:r>
            <a:endParaRPr lang="en-US" sz="1300" dirty="0"/>
          </a:p>
        </p:txBody>
      </p:sp>
      <p:sp>
        <p:nvSpPr>
          <p:cNvPr id="6" name="Shape 4"/>
          <p:cNvSpPr/>
          <p:nvPr/>
        </p:nvSpPr>
        <p:spPr>
          <a:xfrm>
            <a:off x="731520" y="1783080"/>
            <a:ext cx="1280160" cy="548640"/>
          </a:xfrm>
          <a:prstGeom prst="rect">
            <a:avLst/>
          </a:prstGeom>
          <a:solidFill>
            <a:srgbClr val="BBDEFB"/>
          </a:solidFill>
          <a:ln w="19050">
            <a:solidFill>
              <a:srgbClr val="1E3A8A"/>
            </a:solidFill>
            <a:prstDash val="solid"/>
          </a:ln>
        </p:spPr>
      </p:sp>
      <p:sp>
        <p:nvSpPr>
          <p:cNvPr id="7" name="Text 5"/>
          <p:cNvSpPr/>
          <p:nvPr/>
        </p:nvSpPr>
        <p:spPr>
          <a:xfrm>
            <a:off x="731520" y="1874520"/>
            <a:ext cx="1280160" cy="365760"/>
          </a:xfrm>
          <a:prstGeom prst="rect">
            <a:avLst/>
          </a:prstGeom>
          <a:noFill/>
          <a:ln/>
        </p:spPr>
        <p:txBody>
          <a:bodyPr wrap="square" rtlCol="0" anchor="ctr"/>
          <a:lstStyle/>
          <a:p>
            <a:pPr algn="ctr" indent="0" marL="0">
              <a:buNone/>
            </a:pPr>
            <a:r>
              <a:rPr lang="en-US" sz="1000" b="1" dirty="0">
                <a:solidFill>
                  <a:srgbClr val="1F2937"/>
                </a:solidFill>
              </a:rPr>
              <a:t>Traders &amp;</a:t>
            </a:r>
            <a:endParaRPr lang="en-US" sz="1000" dirty="0"/>
          </a:p>
          <a:p>
            <a:pPr algn="ctr" indent="0" marL="0">
              <a:buNone/>
            </a:pPr>
            <a:r>
              <a:rPr lang="en-US" sz="1000" b="1" dirty="0">
                <a:solidFill>
                  <a:srgbClr val="1F2937"/>
                </a:solidFill>
              </a:rPr>
              <a:t>Execution</a:t>
            </a:r>
            <a:endParaRPr lang="en-US" sz="1000" dirty="0"/>
          </a:p>
          <a:p>
            <a:pPr algn="ctr" indent="0" marL="0">
              <a:buNone/>
            </a:pPr>
            <a:r>
              <a:rPr lang="en-US" sz="1000" b="1" dirty="0">
                <a:solidFill>
                  <a:srgbClr val="1F2937"/>
                </a:solidFill>
              </a:rPr>
              <a:t>Advisors</a:t>
            </a:r>
            <a:endParaRPr lang="en-US" sz="1000" dirty="0"/>
          </a:p>
        </p:txBody>
      </p:sp>
      <p:sp>
        <p:nvSpPr>
          <p:cNvPr id="8" name="Shape 6"/>
          <p:cNvSpPr/>
          <p:nvPr/>
        </p:nvSpPr>
        <p:spPr>
          <a:xfrm>
            <a:off x="2194560" y="1783080"/>
            <a:ext cx="1097280" cy="548640"/>
          </a:xfrm>
          <a:prstGeom prst="rect">
            <a:avLst/>
          </a:prstGeom>
          <a:solidFill>
            <a:srgbClr val="90CAF9"/>
          </a:solidFill>
          <a:ln w="19050">
            <a:solidFill>
              <a:srgbClr val="1E3A8A"/>
            </a:solidFill>
            <a:prstDash val="solid"/>
          </a:ln>
        </p:spPr>
      </p:sp>
      <p:sp>
        <p:nvSpPr>
          <p:cNvPr id="9" name="Text 7"/>
          <p:cNvSpPr/>
          <p:nvPr/>
        </p:nvSpPr>
        <p:spPr>
          <a:xfrm>
            <a:off x="2194560" y="1874520"/>
            <a:ext cx="1097280" cy="365760"/>
          </a:xfrm>
          <a:prstGeom prst="rect">
            <a:avLst/>
          </a:prstGeom>
          <a:noFill/>
          <a:ln/>
        </p:spPr>
        <p:txBody>
          <a:bodyPr wrap="square" rtlCol="0" anchor="ctr"/>
          <a:lstStyle/>
          <a:p>
            <a:pPr algn="ctr" indent="0" marL="0">
              <a:buNone/>
            </a:pPr>
            <a:r>
              <a:rPr lang="en-US" sz="1000" b="1" dirty="0">
                <a:solidFill>
                  <a:srgbClr val="1F2937"/>
                </a:solidFill>
              </a:rPr>
              <a:t>AI Trading</a:t>
            </a:r>
            <a:endParaRPr lang="en-US" sz="1000" dirty="0"/>
          </a:p>
          <a:p>
            <a:pPr algn="ctr" indent="0" marL="0">
              <a:buNone/>
            </a:pPr>
            <a:r>
              <a:rPr lang="en-US" sz="1000" b="1" dirty="0">
                <a:solidFill>
                  <a:srgbClr val="1F2937"/>
                </a:solidFill>
              </a:rPr>
              <a:t>UI</a:t>
            </a:r>
            <a:endParaRPr lang="en-US" sz="1000" dirty="0"/>
          </a:p>
        </p:txBody>
      </p:sp>
      <p:sp>
        <p:nvSpPr>
          <p:cNvPr id="10" name="Shape 8"/>
          <p:cNvSpPr/>
          <p:nvPr/>
        </p:nvSpPr>
        <p:spPr>
          <a:xfrm>
            <a:off x="3474720" y="1783080"/>
            <a:ext cx="914400" cy="548640"/>
          </a:xfrm>
          <a:prstGeom prst="rect">
            <a:avLst/>
          </a:prstGeom>
          <a:solidFill>
            <a:srgbClr val="FFF59D"/>
          </a:solidFill>
          <a:ln w="19050">
            <a:solidFill>
              <a:srgbClr val="1E3A8A"/>
            </a:solidFill>
            <a:prstDash val="solid"/>
          </a:ln>
        </p:spPr>
      </p:sp>
      <p:sp>
        <p:nvSpPr>
          <p:cNvPr id="11" name="Text 9"/>
          <p:cNvSpPr/>
          <p:nvPr/>
        </p:nvSpPr>
        <p:spPr>
          <a:xfrm>
            <a:off x="3474720" y="1874520"/>
            <a:ext cx="914400" cy="365760"/>
          </a:xfrm>
          <a:prstGeom prst="rect">
            <a:avLst/>
          </a:prstGeom>
          <a:noFill/>
          <a:ln/>
        </p:spPr>
        <p:txBody>
          <a:bodyPr wrap="square" rtlCol="0" anchor="ctr"/>
          <a:lstStyle/>
          <a:p>
            <a:pPr algn="ctr" indent="0" marL="0">
              <a:buNone/>
            </a:pPr>
            <a:r>
              <a:rPr lang="en-US" sz="1000" b="1" dirty="0">
                <a:solidFill>
                  <a:srgbClr val="1F2937"/>
                </a:solidFill>
              </a:rPr>
              <a:t>API</a:t>
            </a:r>
            <a:endParaRPr lang="en-US" sz="1000" dirty="0"/>
          </a:p>
          <a:p>
            <a:pPr algn="ctr" indent="0" marL="0">
              <a:buNone/>
            </a:pPr>
            <a:r>
              <a:rPr lang="en-US" sz="1000" b="1" dirty="0">
                <a:solidFill>
                  <a:srgbClr val="1F2937"/>
                </a:solidFill>
              </a:rPr>
              <a:t>Gateway</a:t>
            </a:r>
            <a:endParaRPr lang="en-US" sz="1000" dirty="0"/>
          </a:p>
        </p:txBody>
      </p:sp>
      <p:sp>
        <p:nvSpPr>
          <p:cNvPr id="12" name="Shape 10"/>
          <p:cNvSpPr/>
          <p:nvPr/>
        </p:nvSpPr>
        <p:spPr>
          <a:xfrm>
            <a:off x="4572000" y="1783080"/>
            <a:ext cx="1188720" cy="548640"/>
          </a:xfrm>
          <a:prstGeom prst="rect">
            <a:avLst/>
          </a:prstGeom>
          <a:solidFill>
            <a:srgbClr val="A5D6A7"/>
          </a:solidFill>
          <a:ln w="19050">
            <a:solidFill>
              <a:srgbClr val="1E3A8A"/>
            </a:solidFill>
            <a:prstDash val="solid"/>
          </a:ln>
        </p:spPr>
      </p:sp>
      <p:sp>
        <p:nvSpPr>
          <p:cNvPr id="13" name="Text 11"/>
          <p:cNvSpPr/>
          <p:nvPr/>
        </p:nvSpPr>
        <p:spPr>
          <a:xfrm>
            <a:off x="4572000" y="1874520"/>
            <a:ext cx="1188720" cy="365760"/>
          </a:xfrm>
          <a:prstGeom prst="rect">
            <a:avLst/>
          </a:prstGeom>
          <a:noFill/>
          <a:ln/>
        </p:spPr>
        <p:txBody>
          <a:bodyPr wrap="square" rtlCol="0" anchor="ctr"/>
          <a:lstStyle/>
          <a:p>
            <a:pPr algn="ctr" indent="0" marL="0">
              <a:buNone/>
            </a:pPr>
            <a:r>
              <a:rPr lang="en-US" sz="1000" b="1" dirty="0">
                <a:solidFill>
                  <a:srgbClr val="1F2937"/>
                </a:solidFill>
              </a:rPr>
              <a:t>Agent Layer</a:t>
            </a:r>
            <a:endParaRPr lang="en-US" sz="1000" dirty="0"/>
          </a:p>
          <a:p>
            <a:pPr algn="ctr" indent="0" marL="0">
              <a:buNone/>
            </a:pPr>
            <a:r>
              <a:rPr lang="en-US" sz="1000" b="1" dirty="0">
                <a:solidFill>
                  <a:srgbClr val="1F2937"/>
                </a:solidFill>
              </a:rPr>
              <a:t>(MCP)</a:t>
            </a:r>
            <a:endParaRPr lang="en-US" sz="1000" dirty="0"/>
          </a:p>
        </p:txBody>
      </p:sp>
      <p:sp>
        <p:nvSpPr>
          <p:cNvPr id="14" name="Shape 12"/>
          <p:cNvSpPr/>
          <p:nvPr/>
        </p:nvSpPr>
        <p:spPr>
          <a:xfrm>
            <a:off x="5943600" y="1783080"/>
            <a:ext cx="1188720" cy="548640"/>
          </a:xfrm>
          <a:prstGeom prst="rect">
            <a:avLst/>
          </a:prstGeom>
          <a:solidFill>
            <a:srgbClr val="EF9A9A"/>
          </a:solidFill>
          <a:ln w="19050">
            <a:solidFill>
              <a:srgbClr val="1E3A8A"/>
            </a:solidFill>
            <a:prstDash val="solid"/>
          </a:ln>
        </p:spPr>
      </p:sp>
      <p:sp>
        <p:nvSpPr>
          <p:cNvPr id="15" name="Text 13"/>
          <p:cNvSpPr/>
          <p:nvPr/>
        </p:nvSpPr>
        <p:spPr>
          <a:xfrm>
            <a:off x="5943600" y="1874520"/>
            <a:ext cx="1188720" cy="365760"/>
          </a:xfrm>
          <a:prstGeom prst="rect">
            <a:avLst/>
          </a:prstGeom>
          <a:noFill/>
          <a:ln/>
        </p:spPr>
        <p:txBody>
          <a:bodyPr wrap="square" rtlCol="0" anchor="ctr"/>
          <a:lstStyle/>
          <a:p>
            <a:pPr algn="ctr" indent="0" marL="0">
              <a:buNone/>
            </a:pPr>
            <a:r>
              <a:rPr lang="en-US" sz="1000" b="1" dirty="0">
                <a:solidFill>
                  <a:srgbClr val="1F2937"/>
                </a:solidFill>
              </a:rPr>
              <a:t>LLM</a:t>
            </a:r>
            <a:endParaRPr lang="en-US" sz="1000" dirty="0"/>
          </a:p>
          <a:p>
            <a:pPr algn="ctr" indent="0" marL="0">
              <a:buNone/>
            </a:pPr>
            <a:r>
              <a:rPr lang="en-US" sz="1000" b="1" dirty="0">
                <a:solidFill>
                  <a:srgbClr val="1F2937"/>
                </a:solidFill>
              </a:rPr>
              <a:t>Reasoning</a:t>
            </a:r>
            <a:endParaRPr lang="en-US" sz="1000" dirty="0"/>
          </a:p>
        </p:txBody>
      </p:sp>
      <p:sp>
        <p:nvSpPr>
          <p:cNvPr id="16" name="Shape 14"/>
          <p:cNvSpPr/>
          <p:nvPr/>
        </p:nvSpPr>
        <p:spPr>
          <a:xfrm>
            <a:off x="731520" y="2514600"/>
            <a:ext cx="1188720" cy="548640"/>
          </a:xfrm>
          <a:prstGeom prst="rect">
            <a:avLst/>
          </a:prstGeom>
          <a:solidFill>
            <a:srgbClr val="81D4FA"/>
          </a:solidFill>
          <a:ln w="19050">
            <a:solidFill>
              <a:srgbClr val="1E3A8A"/>
            </a:solidFill>
            <a:prstDash val="solid"/>
          </a:ln>
        </p:spPr>
      </p:sp>
      <p:sp>
        <p:nvSpPr>
          <p:cNvPr id="17" name="Text 15"/>
          <p:cNvSpPr/>
          <p:nvPr/>
        </p:nvSpPr>
        <p:spPr>
          <a:xfrm>
            <a:off x="731520" y="2606040"/>
            <a:ext cx="1188720" cy="365760"/>
          </a:xfrm>
          <a:prstGeom prst="rect">
            <a:avLst/>
          </a:prstGeom>
          <a:noFill/>
          <a:ln/>
        </p:spPr>
        <p:txBody>
          <a:bodyPr wrap="square" rtlCol="0" anchor="ctr"/>
          <a:lstStyle/>
          <a:p>
            <a:pPr algn="ctr" indent="0" marL="0">
              <a:buNone/>
            </a:pPr>
            <a:r>
              <a:rPr lang="en-US" sz="1000" b="1" dirty="0">
                <a:solidFill>
                  <a:srgbClr val="1F2937"/>
                </a:solidFill>
              </a:rPr>
              <a:t>Strategy</a:t>
            </a:r>
            <a:endParaRPr lang="en-US" sz="1000" dirty="0"/>
          </a:p>
          <a:p>
            <a:pPr algn="ctr" indent="0" marL="0">
              <a:buNone/>
            </a:pPr>
            <a:r>
              <a:rPr lang="en-US" sz="1000" b="1" dirty="0">
                <a:solidFill>
                  <a:srgbClr val="1F2937"/>
                </a:solidFill>
              </a:rPr>
              <a:t>Selection</a:t>
            </a:r>
            <a:endParaRPr lang="en-US" sz="1000" dirty="0"/>
          </a:p>
        </p:txBody>
      </p:sp>
      <p:sp>
        <p:nvSpPr>
          <p:cNvPr id="18" name="Shape 16"/>
          <p:cNvSpPr/>
          <p:nvPr/>
        </p:nvSpPr>
        <p:spPr>
          <a:xfrm>
            <a:off x="2103120" y="2514600"/>
            <a:ext cx="1188720" cy="548640"/>
          </a:xfrm>
          <a:prstGeom prst="rect">
            <a:avLst/>
          </a:prstGeom>
          <a:solidFill>
            <a:srgbClr val="BDBDBD"/>
          </a:solidFill>
          <a:ln w="19050">
            <a:solidFill>
              <a:srgbClr val="1E3A8A"/>
            </a:solidFill>
            <a:prstDash val="solid"/>
          </a:ln>
        </p:spPr>
      </p:sp>
      <p:sp>
        <p:nvSpPr>
          <p:cNvPr id="19" name="Text 17"/>
          <p:cNvSpPr/>
          <p:nvPr/>
        </p:nvSpPr>
        <p:spPr>
          <a:xfrm>
            <a:off x="2103120" y="2606040"/>
            <a:ext cx="1188720" cy="365760"/>
          </a:xfrm>
          <a:prstGeom prst="rect">
            <a:avLst/>
          </a:prstGeom>
          <a:noFill/>
          <a:ln/>
        </p:spPr>
        <p:txBody>
          <a:bodyPr wrap="square" rtlCol="0" anchor="ctr"/>
          <a:lstStyle/>
          <a:p>
            <a:pPr algn="ctr" indent="0" marL="0">
              <a:buNone/>
            </a:pPr>
            <a:r>
              <a:rPr lang="en-US" sz="1000" b="1" dirty="0">
                <a:solidFill>
                  <a:srgbClr val="1F2937"/>
                </a:solidFill>
              </a:rPr>
              <a:t>OMS &amp;</a:t>
            </a:r>
            <a:endParaRPr lang="en-US" sz="1000" dirty="0"/>
          </a:p>
          <a:p>
            <a:pPr algn="ctr" indent="0" marL="0">
              <a:buNone/>
            </a:pPr>
            <a:r>
              <a:rPr lang="en-US" sz="1000" b="1" dirty="0">
                <a:solidFill>
                  <a:srgbClr val="1F2937"/>
                </a:solidFill>
              </a:rPr>
              <a:t>Execution</a:t>
            </a:r>
            <a:endParaRPr lang="en-US" sz="1000" dirty="0"/>
          </a:p>
        </p:txBody>
      </p:sp>
      <p:sp>
        <p:nvSpPr>
          <p:cNvPr id="20" name="Shape 18"/>
          <p:cNvSpPr/>
          <p:nvPr/>
        </p:nvSpPr>
        <p:spPr>
          <a:xfrm>
            <a:off x="2057400" y="2011680"/>
            <a:ext cx="109728" cy="228600"/>
          </a:xfrm>
          <a:prstGeom prst="rightArrow">
            <a:avLst/>
          </a:prstGeom>
          <a:solidFill>
            <a:srgbClr val="1E3A8A"/>
          </a:solidFill>
          <a:ln/>
        </p:spPr>
      </p:sp>
      <p:sp>
        <p:nvSpPr>
          <p:cNvPr id="21" name="Shape 19"/>
          <p:cNvSpPr/>
          <p:nvPr/>
        </p:nvSpPr>
        <p:spPr>
          <a:xfrm>
            <a:off x="3337560" y="2011680"/>
            <a:ext cx="109728" cy="228600"/>
          </a:xfrm>
          <a:prstGeom prst="rightArrow">
            <a:avLst/>
          </a:prstGeom>
          <a:solidFill>
            <a:srgbClr val="1E3A8A"/>
          </a:solidFill>
          <a:ln/>
        </p:spPr>
      </p:sp>
      <p:sp>
        <p:nvSpPr>
          <p:cNvPr id="22" name="Shape 20"/>
          <p:cNvSpPr/>
          <p:nvPr/>
        </p:nvSpPr>
        <p:spPr>
          <a:xfrm>
            <a:off x="4434840" y="2011680"/>
            <a:ext cx="109728" cy="228600"/>
          </a:xfrm>
          <a:prstGeom prst="rightArrow">
            <a:avLst/>
          </a:prstGeom>
          <a:solidFill>
            <a:srgbClr val="1E3A8A"/>
          </a:solidFill>
          <a:ln/>
        </p:spPr>
      </p:sp>
      <p:sp>
        <p:nvSpPr>
          <p:cNvPr id="23" name="Shape 21"/>
          <p:cNvSpPr/>
          <p:nvPr/>
        </p:nvSpPr>
        <p:spPr>
          <a:xfrm>
            <a:off x="5806440" y="2011680"/>
            <a:ext cx="109728" cy="228600"/>
          </a:xfrm>
          <a:prstGeom prst="rightArrow">
            <a:avLst/>
          </a:prstGeom>
          <a:solidFill>
            <a:srgbClr val="1E3A8A"/>
          </a:solidFill>
          <a:ln/>
        </p:spPr>
      </p:sp>
      <p:sp>
        <p:nvSpPr>
          <p:cNvPr id="24" name="Shape 22"/>
          <p:cNvSpPr/>
          <p:nvPr/>
        </p:nvSpPr>
        <p:spPr>
          <a:xfrm>
            <a:off x="1965960" y="2743200"/>
            <a:ext cx="109728" cy="228600"/>
          </a:xfrm>
          <a:prstGeom prst="rightArrow">
            <a:avLst/>
          </a:prstGeom>
          <a:solidFill>
            <a:srgbClr val="1E3A8A"/>
          </a:solidFill>
          <a:ln/>
        </p:spPr>
      </p:sp>
      <p:sp>
        <p:nvSpPr>
          <p:cNvPr id="25" name="Shape 23"/>
          <p:cNvSpPr/>
          <p:nvPr/>
        </p:nvSpPr>
        <p:spPr>
          <a:xfrm>
            <a:off x="457200" y="3474720"/>
            <a:ext cx="8229600" cy="2286000"/>
          </a:xfrm>
          <a:prstGeom prst="rect">
            <a:avLst/>
          </a:prstGeom>
          <a:solidFill>
            <a:srgbClr val="F0F9FF"/>
          </a:solidFill>
          <a:ln w="12700">
            <a:solidFill>
              <a:srgbClr val="333333"/>
            </a:solidFill>
            <a:prstDash val="solid"/>
          </a:ln>
        </p:spPr>
      </p:sp>
      <p:sp>
        <p:nvSpPr>
          <p:cNvPr id="26" name="Text 24"/>
          <p:cNvSpPr/>
          <p:nvPr/>
        </p:nvSpPr>
        <p:spPr>
          <a:xfrm>
            <a:off x="640080" y="3566160"/>
            <a:ext cx="4114800" cy="274320"/>
          </a:xfrm>
          <a:prstGeom prst="rect">
            <a:avLst/>
          </a:prstGeom>
          <a:noFill/>
          <a:ln/>
        </p:spPr>
        <p:txBody>
          <a:bodyPr wrap="square" rtlCol="0" anchor="ctr"/>
          <a:lstStyle/>
          <a:p>
            <a:pPr indent="0" marL="0">
              <a:buNone/>
            </a:pPr>
            <a:r>
              <a:rPr lang="en-US" sz="1300" b="1" dirty="0">
                <a:solidFill>
                  <a:srgbClr val="10B981"/>
                </a:solidFill>
              </a:rPr>
              <a:t>OFFLINE LEARNING PATH (End of Day Batch Only)</a:t>
            </a:r>
            <a:endParaRPr lang="en-US" sz="1300" dirty="0"/>
          </a:p>
        </p:txBody>
      </p:sp>
      <p:sp>
        <p:nvSpPr>
          <p:cNvPr id="27" name="Shape 25"/>
          <p:cNvSpPr/>
          <p:nvPr/>
        </p:nvSpPr>
        <p:spPr>
          <a:xfrm>
            <a:off x="914400" y="4023360"/>
            <a:ext cx="1371600" cy="548640"/>
          </a:xfrm>
          <a:prstGeom prst="rect">
            <a:avLst/>
          </a:prstGeom>
          <a:solidFill>
            <a:srgbClr val="FFE0B2"/>
          </a:solidFill>
          <a:ln w="19050">
            <a:solidFill>
              <a:srgbClr val="10B981"/>
            </a:solidFill>
            <a:prstDash val="solid"/>
          </a:ln>
        </p:spPr>
      </p:sp>
      <p:sp>
        <p:nvSpPr>
          <p:cNvPr id="28" name="Text 26"/>
          <p:cNvSpPr/>
          <p:nvPr/>
        </p:nvSpPr>
        <p:spPr>
          <a:xfrm>
            <a:off x="914400" y="4114800"/>
            <a:ext cx="1371600" cy="365760"/>
          </a:xfrm>
          <a:prstGeom prst="rect">
            <a:avLst/>
          </a:prstGeom>
          <a:noFill/>
          <a:ln/>
        </p:spPr>
        <p:txBody>
          <a:bodyPr wrap="square" rtlCol="0" anchor="ctr"/>
          <a:lstStyle/>
          <a:p>
            <a:pPr algn="ctr" indent="0" marL="0">
              <a:buNone/>
            </a:pPr>
            <a:r>
              <a:rPr lang="en-US" sz="1000" b="1" dirty="0">
                <a:solidFill>
                  <a:srgbClr val="1F2937"/>
                </a:solidFill>
              </a:rPr>
              <a:t>User</a:t>
            </a:r>
            <a:endParaRPr lang="en-US" sz="1000" dirty="0"/>
          </a:p>
          <a:p>
            <a:pPr algn="ctr" indent="0" marL="0">
              <a:buNone/>
            </a:pPr>
            <a:r>
              <a:rPr lang="en-US" sz="1000" b="1" dirty="0">
                <a:solidFill>
                  <a:srgbClr val="1F2937"/>
                </a:solidFill>
              </a:rPr>
              <a:t>Corrections</a:t>
            </a:r>
            <a:endParaRPr lang="en-US" sz="1000" dirty="0"/>
          </a:p>
        </p:txBody>
      </p:sp>
      <p:sp>
        <p:nvSpPr>
          <p:cNvPr id="29" name="Shape 27"/>
          <p:cNvSpPr/>
          <p:nvPr/>
        </p:nvSpPr>
        <p:spPr>
          <a:xfrm>
            <a:off x="2468880" y="4023360"/>
            <a:ext cx="1371600" cy="548640"/>
          </a:xfrm>
          <a:prstGeom prst="rect">
            <a:avLst/>
          </a:prstGeom>
          <a:solidFill>
            <a:srgbClr val="E1F5FE"/>
          </a:solidFill>
          <a:ln w="19050">
            <a:solidFill>
              <a:srgbClr val="10B981"/>
            </a:solidFill>
            <a:prstDash val="solid"/>
          </a:ln>
        </p:spPr>
      </p:sp>
      <p:sp>
        <p:nvSpPr>
          <p:cNvPr id="30" name="Text 28"/>
          <p:cNvSpPr/>
          <p:nvPr/>
        </p:nvSpPr>
        <p:spPr>
          <a:xfrm>
            <a:off x="2468880" y="4114800"/>
            <a:ext cx="1371600" cy="365760"/>
          </a:xfrm>
          <a:prstGeom prst="rect">
            <a:avLst/>
          </a:prstGeom>
          <a:noFill/>
          <a:ln/>
        </p:spPr>
        <p:txBody>
          <a:bodyPr wrap="square" rtlCol="0" anchor="ctr"/>
          <a:lstStyle/>
          <a:p>
            <a:pPr algn="ctr" indent="0" marL="0">
              <a:buNone/>
            </a:pPr>
            <a:r>
              <a:rPr lang="en-US" sz="1000" b="1" dirty="0">
                <a:solidFill>
                  <a:srgbClr val="1F2937"/>
                </a:solidFill>
              </a:rPr>
              <a:t>Behavior</a:t>
            </a:r>
            <a:endParaRPr lang="en-US" sz="1000" dirty="0"/>
          </a:p>
          <a:p>
            <a:pPr algn="ctr" indent="0" marL="0">
              <a:buNone/>
            </a:pPr>
            <a:r>
              <a:rPr lang="en-US" sz="1000" b="1" dirty="0">
                <a:solidFill>
                  <a:srgbClr val="1F2937"/>
                </a:solidFill>
              </a:rPr>
              <a:t>History</a:t>
            </a:r>
            <a:endParaRPr lang="en-US" sz="1000" dirty="0"/>
          </a:p>
        </p:txBody>
      </p:sp>
      <p:sp>
        <p:nvSpPr>
          <p:cNvPr id="31" name="Shape 29"/>
          <p:cNvSpPr/>
          <p:nvPr/>
        </p:nvSpPr>
        <p:spPr>
          <a:xfrm>
            <a:off x="4023360" y="4023360"/>
            <a:ext cx="2286000" cy="548640"/>
          </a:xfrm>
          <a:prstGeom prst="rect">
            <a:avLst/>
          </a:prstGeom>
          <a:solidFill>
            <a:srgbClr val="F5F5F5"/>
          </a:solidFill>
          <a:ln w="12700">
            <a:solidFill>
              <a:srgbClr val="10B981"/>
            </a:solidFill>
            <a:prstDash val="solid"/>
          </a:ln>
        </p:spPr>
      </p:sp>
      <p:sp>
        <p:nvSpPr>
          <p:cNvPr id="32" name="Text 30"/>
          <p:cNvSpPr/>
          <p:nvPr/>
        </p:nvSpPr>
        <p:spPr>
          <a:xfrm>
            <a:off x="4023360" y="4114800"/>
            <a:ext cx="2286000" cy="365760"/>
          </a:xfrm>
          <a:prstGeom prst="rect">
            <a:avLst/>
          </a:prstGeom>
          <a:noFill/>
          <a:ln/>
        </p:spPr>
        <p:txBody>
          <a:bodyPr wrap="square" rtlCol="0" anchor="ctr"/>
          <a:lstStyle/>
          <a:p>
            <a:pPr algn="ctr" indent="0" marL="0">
              <a:buNone/>
            </a:pPr>
            <a:r>
              <a:rPr lang="en-US" sz="1000" b="1" dirty="0">
                <a:solidFill>
                  <a:srgbClr val="1F2937"/>
                </a:solidFill>
              </a:rPr>
              <a:t>Offline RL Training</a:t>
            </a:r>
            <a:endParaRPr lang="en-US" sz="1000" dirty="0"/>
          </a:p>
          <a:p>
            <a:pPr algn="ctr" indent="0" marL="0">
              <a:buNone/>
            </a:pPr>
            <a:r>
              <a:rPr lang="en-US" sz="1000" b="1" dirty="0">
                <a:solidFill>
                  <a:srgbClr val="1F2937"/>
                </a:solidFill>
              </a:rPr>
              <a:t>(APO - End of Day)</a:t>
            </a:r>
            <a:endParaRPr lang="en-US" sz="1000" dirty="0"/>
          </a:p>
        </p:txBody>
      </p:sp>
      <p:sp>
        <p:nvSpPr>
          <p:cNvPr id="33" name="Shape 31"/>
          <p:cNvSpPr/>
          <p:nvPr/>
        </p:nvSpPr>
        <p:spPr>
          <a:xfrm>
            <a:off x="6492240" y="4023360"/>
            <a:ext cx="2011680" cy="548640"/>
          </a:xfrm>
          <a:prstGeom prst="rect">
            <a:avLst/>
          </a:prstGeom>
          <a:solidFill>
            <a:srgbClr val="E8EAF6"/>
          </a:solidFill>
          <a:ln w="19050">
            <a:solidFill>
              <a:srgbClr val="10B981"/>
            </a:solidFill>
            <a:prstDash val="solid"/>
          </a:ln>
        </p:spPr>
      </p:sp>
      <p:sp>
        <p:nvSpPr>
          <p:cNvPr id="34" name="Text 32"/>
          <p:cNvSpPr/>
          <p:nvPr/>
        </p:nvSpPr>
        <p:spPr>
          <a:xfrm>
            <a:off x="6492240" y="4114800"/>
            <a:ext cx="2011680" cy="365760"/>
          </a:xfrm>
          <a:prstGeom prst="rect">
            <a:avLst/>
          </a:prstGeom>
          <a:noFill/>
          <a:ln/>
        </p:spPr>
        <p:txBody>
          <a:bodyPr wrap="square" rtlCol="0" anchor="ctr"/>
          <a:lstStyle/>
          <a:p>
            <a:pPr algn="ctr" indent="0" marL="0">
              <a:buNone/>
            </a:pPr>
            <a:r>
              <a:rPr lang="en-US" sz="1000" b="1" dirty="0">
                <a:solidFill>
                  <a:srgbClr val="1F2937"/>
                </a:solidFill>
              </a:rPr>
              <a:t>Human Review</a:t>
            </a:r>
            <a:endParaRPr lang="en-US" sz="1000" dirty="0"/>
          </a:p>
          <a:p>
            <a:pPr algn="ctr" indent="0" marL="0">
              <a:buNone/>
            </a:pPr>
            <a:r>
              <a:rPr lang="en-US" sz="1000" b="1" dirty="0">
                <a:solidFill>
                  <a:srgbClr val="1F2937"/>
                </a:solidFill>
              </a:rPr>
              <a:t>&amp; Approval</a:t>
            </a:r>
            <a:endParaRPr lang="en-US" sz="1000" dirty="0"/>
          </a:p>
        </p:txBody>
      </p:sp>
      <p:sp>
        <p:nvSpPr>
          <p:cNvPr id="35" name="Shape 33"/>
          <p:cNvSpPr/>
          <p:nvPr/>
        </p:nvSpPr>
        <p:spPr>
          <a:xfrm>
            <a:off x="2331720" y="4251960"/>
            <a:ext cx="109728" cy="228600"/>
          </a:xfrm>
          <a:prstGeom prst="rightArrow">
            <a:avLst/>
          </a:prstGeom>
          <a:solidFill>
            <a:srgbClr val="10B981"/>
          </a:solidFill>
          <a:ln/>
        </p:spPr>
      </p:sp>
      <p:sp>
        <p:nvSpPr>
          <p:cNvPr id="36" name="Shape 34"/>
          <p:cNvSpPr/>
          <p:nvPr/>
        </p:nvSpPr>
        <p:spPr>
          <a:xfrm>
            <a:off x="3886200" y="4251960"/>
            <a:ext cx="109728" cy="228600"/>
          </a:xfrm>
          <a:prstGeom prst="rightArrow">
            <a:avLst/>
          </a:prstGeom>
          <a:solidFill>
            <a:srgbClr val="10B981"/>
          </a:solidFill>
          <a:ln/>
        </p:spPr>
      </p:sp>
      <p:sp>
        <p:nvSpPr>
          <p:cNvPr id="37" name="Shape 35"/>
          <p:cNvSpPr/>
          <p:nvPr/>
        </p:nvSpPr>
        <p:spPr>
          <a:xfrm>
            <a:off x="6355080" y="4251960"/>
            <a:ext cx="109728" cy="228600"/>
          </a:xfrm>
          <a:prstGeom prst="rightArrow">
            <a:avLst/>
          </a:prstGeom>
          <a:solidFill>
            <a:srgbClr val="10B981"/>
          </a:solidFill>
          <a:ln/>
        </p:spPr>
      </p:sp>
      <p:sp>
        <p:nvSpPr>
          <p:cNvPr id="38" name="Shape 36"/>
          <p:cNvSpPr/>
          <p:nvPr/>
        </p:nvSpPr>
        <p:spPr>
          <a:xfrm>
            <a:off x="1325880" y="3108960"/>
            <a:ext cx="0" cy="868680"/>
          </a:xfrm>
          <a:prstGeom prst="line">
            <a:avLst/>
          </a:prstGeom>
          <a:noFill/>
          <a:ln w="25400">
            <a:solidFill>
              <a:srgbClr val="F59E0B"/>
            </a:solidFill>
            <a:prstDash val="solid"/>
            <a:tailEnd type="triangle"/>
          </a:ln>
        </p:spPr>
      </p:sp>
      <p:sp>
        <p:nvSpPr>
          <p:cNvPr id="39" name="Shape 37"/>
          <p:cNvSpPr/>
          <p:nvPr/>
        </p:nvSpPr>
        <p:spPr>
          <a:xfrm>
            <a:off x="7498080" y="3977640"/>
            <a:ext cx="0" cy="-1828800"/>
          </a:xfrm>
          <a:prstGeom prst="line">
            <a:avLst/>
          </a:prstGeom>
          <a:noFill/>
          <a:ln w="25400">
            <a:solidFill>
              <a:srgbClr val="1E3A8A"/>
            </a:solidFill>
            <a:prstDash val="solid"/>
            <a:tailEnd type="triangle"/>
          </a:ln>
        </p:spPr>
      </p:sp>
      <p:sp>
        <p:nvSpPr>
          <p:cNvPr id="40" name="Text 38"/>
          <p:cNvSpPr/>
          <p:nvPr/>
        </p:nvSpPr>
        <p:spPr>
          <a:xfrm>
            <a:off x="7589520" y="2560320"/>
            <a:ext cx="731520" cy="228600"/>
          </a:xfrm>
          <a:prstGeom prst="rect">
            <a:avLst/>
          </a:prstGeom>
          <a:noFill/>
          <a:ln/>
        </p:spPr>
        <p:txBody>
          <a:bodyPr wrap="square" rtlCol="0" anchor="ctr"/>
          <a:lstStyle/>
          <a:p>
            <a:pPr indent="0" marL="0">
              <a:buNone/>
            </a:pPr>
            <a:r>
              <a:rPr lang="en-US" sz="900" b="1" i="1" dirty="0">
                <a:solidFill>
                  <a:srgbClr val="1E3A8A"/>
                </a:solidFill>
              </a:rPr>
              <a:t>Deploy</a:t>
            </a:r>
            <a:endParaRPr lang="en-US" sz="900" dirty="0"/>
          </a:p>
        </p:txBody>
      </p:sp>
      <p:sp>
        <p:nvSpPr>
          <p:cNvPr id="41" name="Shape 39"/>
          <p:cNvSpPr/>
          <p:nvPr/>
        </p:nvSpPr>
        <p:spPr>
          <a:xfrm>
            <a:off x="457200" y="6035040"/>
            <a:ext cx="8229600" cy="548640"/>
          </a:xfrm>
          <a:prstGeom prst="rect">
            <a:avLst/>
          </a:prstGeom>
          <a:solidFill>
            <a:srgbClr val="F9FAFB"/>
          </a:solidFill>
          <a:ln w="12700">
            <a:solidFill>
              <a:srgbClr val="6B7280"/>
            </a:solidFill>
            <a:prstDash val="solid"/>
          </a:ln>
        </p:spPr>
      </p:sp>
      <p:sp>
        <p:nvSpPr>
          <p:cNvPr id="42" name="Text 40"/>
          <p:cNvSpPr/>
          <p:nvPr/>
        </p:nvSpPr>
        <p:spPr>
          <a:xfrm>
            <a:off x="640080" y="6172200"/>
            <a:ext cx="7863840" cy="274320"/>
          </a:xfrm>
          <a:prstGeom prst="rect">
            <a:avLst/>
          </a:prstGeom>
          <a:noFill/>
          <a:ln/>
        </p:spPr>
        <p:txBody>
          <a:bodyPr wrap="square" rtlCol="0" anchor="ctr"/>
          <a:lstStyle/>
          <a:p>
            <a:pPr algn="ctr" indent="0" marL="0">
              <a:buNone/>
            </a:pPr>
            <a:r>
              <a:rPr lang="en-US" sz="1200" b="1" dirty="0">
                <a:solidFill>
                  <a:srgbClr val="1F2937"/>
                </a:solidFill>
              </a:rPr>
              <a:t>🔵 Real-Time = Deterministic, No Learning  |  🟢 Offline = APO Training, Human Approval  |  ⚡ Rollback Capability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UBS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Trading GUI</dc:title>
  <dc:subject>PptxGenJS Presentation</dc:subject>
  <dc:creator>UBS Trading Technology</dc:creator>
  <cp:lastModifiedBy>UBS Trading Technology</cp:lastModifiedBy>
  <cp:revision>1</cp:revision>
  <dcterms:created xsi:type="dcterms:W3CDTF">2026-02-09T21:35:40Z</dcterms:created>
  <dcterms:modified xsi:type="dcterms:W3CDTF">2026-02-09T21:35:40Z</dcterms:modified>
</cp:coreProperties>
</file>